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df8840-8206-e000-abfc-776fb969e19a}">
          <p14:sldIdLst>
            <p14:sldId id="256"/>
            <p14:sldId id="257"/>
          </p14:sldIdLst>
        </p14:section>
        <p14:section name="Method" id="{66adce3f-6f63-136f-eda8-90f29c533418}">
          <p14:sldIdLst>
            <p14:sldId id="258"/>
            <p14:sldId id="259"/>
          </p14:sldIdLst>
        </p14:section>
        <p14:section name="Evidence" id="{751d8542-ed87-7e80-2784-a6e2297b034b}">
          <p14:sldIdLst>
            <p14:sldId id="260"/>
            <p14:sldId id="261"/>
            <p14:sldId id="262"/>
            <p14:sldId id="263"/>
            <p14:sldId id="264"/>
          </p14:sldIdLst>
        </p14:section>
        <p14:section name="Limits and production" id="{fdc228be-904a-6647-b193-92e661414abb}">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256"/>
                </a:solidFill>
                <a:latin typeface="+mn-lt"/>
              </a:defRPr>
            </a:pPr>
            <a:r>
              <a:rPr sz="1400" b="0" i="0" u="none" strike="noStrike">
                <a:solidFill>
                  <a:srgbClr val="3A4256"/>
                </a:solidFill>
                <a:latin typeface="+mn-lt"/>
              </a:rPr>
              <a:t>Task success under drift (20 seeds, 3000 tasks each)</a:t>
            </a:r>
          </a:p>
        </c:rich>
      </c:tx>
      <c:layout/>
      <c:overlay val="0"/>
    </c:title>
    <c:autoTitleDeleted val="0"/>
    <c:plotArea>
      <c:layout/>
      <c:barChart>
        <c:barDir val="bar"/>
        <c:grouping val="clustered"/>
        <c:varyColors val="0"/>
        <c:ser>
          <c:idx val="0"/>
          <c:order val="0"/>
          <c:tx>
            <c:strRef>
              <c:f>Sheet1!$B$1</c:f>
              <c:strCache>
                <c:ptCount val="1"/>
                <c:pt idx="0">
                  <c:v>Task success (E2, drift)</c:v>
                </c:pt>
              </c:strCache>
            </c:strRef>
          </c:tx>
          <c:spPr>
            <a:solidFill>
              <a:srgbClr val="8A94A6"/>
            </a:solidFill>
            <a:effectLst/>
          </c:spPr>
          <c:invertIfNegative val="0"/>
          <c:dLbls>
            <c:numFmt formatCode="0.000" sourceLinked="0"/>
            <c:txPr>
              <a:bodyPr/>
              <a:lstStyle/>
              <a:p>
                <a:pPr>
                  <a:defRPr b="0" i="0" strike="noStrike" sz="1100" u="none">
                    <a:solidFill>
                      <a:srgbClr val="3A4256"/>
                    </a:solidFill>
                    <a:latin typeface="+mn-lt"/>
                  </a:defRPr>
                </a:pPr>
              </a:p>
            </c:txPr>
            <c:showLegendKey val="0"/>
            <c:showVal val="1"/>
            <c:showCatName val="0"/>
            <c:showSerName val="0"/>
            <c:showPercent val="0"/>
            <c:showBubbleSize val="0"/>
            <c:showLeaderLines val="0"/>
          </c:dLbls>
          <c:dPt>
            <c:idx val="0"/>
            <c:invertIfNegative val="0"/>
            <c:bubble3D val="0"/>
            <c:spPr>
              <a:solidFill>
                <a:srgbClr val="8A94A6"/>
              </a:solidFill>
              <a:effectLst/>
            </c:spPr>
          </c:dPt>
          <c:dPt>
            <c:idx val="1"/>
            <c:invertIfNegative val="0"/>
            <c:bubble3D val="0"/>
            <c:spPr>
              <a:solidFill>
                <a:srgbClr val="8A94A6"/>
              </a:solidFill>
              <a:effectLst/>
            </c:spPr>
          </c:dPt>
          <c:dPt>
            <c:idx val="2"/>
            <c:invertIfNegative val="0"/>
            <c:bubble3D val="0"/>
            <c:spPr>
              <a:solidFill>
                <a:srgbClr val="8A94A6"/>
              </a:solidFill>
              <a:effectLst/>
            </c:spPr>
          </c:dPt>
          <c:dPt>
            <c:idx val="3"/>
            <c:invertIfNegative val="0"/>
            <c:bubble3D val="0"/>
            <c:spPr>
              <a:solidFill>
                <a:srgbClr val="8A94A6"/>
              </a:solidFill>
              <a:effectLst/>
            </c:spPr>
          </c:dPt>
          <c:dPt>
            <c:idx val="4"/>
            <c:invertIfNegative val="0"/>
            <c:bubble3D val="0"/>
            <c:spPr>
              <a:solidFill>
                <a:srgbClr val="E8A33D"/>
              </a:solidFill>
              <a:effectLst/>
            </c:spPr>
          </c:dPt>
          <c:dPt>
            <c:idx val="5"/>
            <c:invertIfNegative val="0"/>
            <c:bubble3D val="0"/>
            <c:spPr>
              <a:solidFill>
                <a:srgbClr val="B8C4D6"/>
              </a:solidFill>
              <a:effectLst/>
            </c:spPr>
          </c:dPt>
          <c:cat>
            <c:multiLvlStrRef>
              <c:f>Sheet1!$A$2:$A$7</c:f>
              <c:multiLvlStrCache>
                <c:ptCount val="6"/>
                <c:lvl>
                  <c:pt idx="0">
                    <c:v>B1 Rules</c:v>
                  </c:pt>
                  <c:pt idx="1">
                    <c:v>B2 Supervised</c:v>
                  </c:pt>
                  <c:pt idx="2">
                    <c:v>B5 Bandit</c:v>
                  </c:pt>
                  <c:pt idx="3">
                    <c:v>B4 Static</c:v>
                  </c:pt>
                  <c:pt idx="4">
                    <c:v>ATLAS</c:v>
                  </c:pt>
                  <c:pt idx="5">
                    <c:v>Oracle*</c:v>
                  </c:pt>
                </c:lvl>
              </c:multiLvlStrCache>
            </c:multiLvlStrRef>
          </c:cat>
          <c:val>
            <c:numRef>
              <c:f>Sheet1!$B$2:$B$7</c:f>
              <c:numCache>
                <c:formatCode>General</c:formatCode>
                <c:ptCount val="6"/>
                <c:pt idx="0">
                  <c:v>0.475</c:v>
                </c:pt>
                <c:pt idx="1">
                  <c:v>0.724</c:v>
                </c:pt>
                <c:pt idx="2">
                  <c:v>0.803</c:v>
                </c:pt>
                <c:pt idx="3">
                  <c:v>0.82</c:v>
                </c:pt>
                <c:pt idx="4">
                  <c:v>0.889</c:v>
                </c:pt>
                <c:pt idx="5">
                  <c:v>0.891</c:v>
                </c:pt>
              </c:numCache>
            </c:numRef>
          </c:val>
        </c:ser>
        <c:dLbls>
          <c:numFmt formatCode="0.000" sourceLinked="0"/>
          <c:txPr>
            <a:bodyPr/>
            <a:lstStyle/>
            <a:p>
              <a:pPr>
                <a:defRPr b="0" i="0" strike="noStrike" sz="1100" u="none">
                  <a:solidFill>
                    <a:srgbClr val="3A425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7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D9DEE6"/>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Overall success</c:v>
                </c:pt>
              </c:strCache>
            </c:strRef>
          </c:tx>
          <c:spPr>
            <a:solidFill>
              <a:srgbClr val="2A9D8F"/>
            </a:solidFill>
            <a:effectLst/>
          </c:spPr>
          <c:invertIfNegative val="0"/>
          <c:dLbls>
            <c:numFmt formatCode="0.00" sourceLinked="0"/>
            <c:txPr>
              <a:bodyPr/>
              <a:lstStyle/>
              <a:p>
                <a:pPr>
                  <a:defRPr b="0" i="0" strike="noStrike" sz="1100" u="none">
                    <a:solidFill>
                      <a:srgbClr val="3A4256"/>
                    </a:solidFill>
                    <a:latin typeface="+mn-lt"/>
                  </a:defRPr>
                </a:pPr>
              </a:p>
            </c:txPr>
            <c:showLegendKey val="0"/>
            <c:showVal val="1"/>
            <c:showCatName val="0"/>
            <c:showSerName val="0"/>
            <c:showPercent val="0"/>
            <c:showBubbleSize val="0"/>
            <c:showLeaderLines val="0"/>
          </c:dLbls>
          <c:cat>
            <c:multiLvlStrRef>
              <c:f>Sheet1!$A$2:$A$6</c:f>
              <c:multiLvlStrCache>
                <c:ptCount val="5"/>
                <c:lvl>
                  <c:pt idx="0">
                    <c:v>Rules (cheapest)</c:v>
                  </c:pt>
                  <c:pt idx="1">
                    <c:v>B5 Bandit</c:v>
                  </c:pt>
                  <c:pt idx="2">
                    <c:v>B4 Static</c:v>
                  </c:pt>
                  <c:pt idx="3">
                    <c:v>Rules (best tools)</c:v>
                  </c:pt>
                  <c:pt idx="4">
                    <c:v>ATLAS</c:v>
                  </c:pt>
                </c:lvl>
              </c:multiLvlStrCache>
            </c:multiLvlStrRef>
          </c:cat>
          <c:val>
            <c:numRef>
              <c:f>Sheet1!$B$2:$B$6</c:f>
              <c:numCache>
                <c:formatCode>General</c:formatCode>
                <c:ptCount val="5"/>
                <c:pt idx="0">
                  <c:v>0.484</c:v>
                </c:pt>
                <c:pt idx="1">
                  <c:v>0.516</c:v>
                </c:pt>
                <c:pt idx="2">
                  <c:v>0.786</c:v>
                </c:pt>
                <c:pt idx="3">
                  <c:v>0.811</c:v>
                </c:pt>
                <c:pt idx="4">
                  <c:v>0.902</c:v>
                </c:pt>
              </c:numCache>
            </c:numRef>
          </c:val>
        </c:ser>
        <c:ser>
          <c:idx val="1"/>
          <c:order val="1"/>
          <c:tx>
            <c:strRef>
              <c:f>Sheet1!$C$1</c:f>
              <c:strCache>
                <c:ptCount val="1"/>
                <c:pt idx="0">
                  <c:v>During DB incident</c:v>
                </c:pt>
              </c:strCache>
            </c:strRef>
          </c:tx>
          <c:spPr>
            <a:solidFill>
              <a:srgbClr val="E8A33D"/>
            </a:solidFill>
            <a:effectLst/>
          </c:spPr>
          <c:invertIfNegative val="0"/>
          <c:dLbls>
            <c:numFmt formatCode="0.00" sourceLinked="0"/>
            <c:txPr>
              <a:bodyPr/>
              <a:lstStyle/>
              <a:p>
                <a:pPr>
                  <a:defRPr b="0" i="0" strike="noStrike" sz="1100" u="none">
                    <a:solidFill>
                      <a:srgbClr val="3A4256"/>
                    </a:solidFill>
                    <a:latin typeface="+mn-lt"/>
                  </a:defRPr>
                </a:pPr>
              </a:p>
            </c:txPr>
            <c:showLegendKey val="0"/>
            <c:showVal val="1"/>
            <c:showCatName val="0"/>
            <c:showSerName val="0"/>
            <c:showPercent val="0"/>
            <c:showBubbleSize val="0"/>
            <c:showLeaderLines val="0"/>
          </c:dLbls>
          <c:cat>
            <c:multiLvlStrRef>
              <c:f>Sheet1!$A$2:$A$6</c:f>
              <c:multiLvlStrCache>
                <c:ptCount val="5"/>
                <c:lvl>
                  <c:pt idx="0">
                    <c:v>Rules (cheapest)</c:v>
                  </c:pt>
                  <c:pt idx="1">
                    <c:v>B5 Bandit</c:v>
                  </c:pt>
                  <c:pt idx="2">
                    <c:v>B4 Static</c:v>
                  </c:pt>
                  <c:pt idx="3">
                    <c:v>Rules (best tools)</c:v>
                  </c:pt>
                  <c:pt idx="4">
                    <c:v>ATLAS</c:v>
                  </c:pt>
                </c:lvl>
              </c:multiLvlStrCache>
            </c:multiLvlStrRef>
          </c:cat>
          <c:val>
            <c:numRef>
              <c:f>Sheet1!$C$2:$C$6</c:f>
              <c:numCache>
                <c:formatCode>General</c:formatCode>
                <c:ptCount val="5"/>
                <c:pt idx="0">
                  <c:v>0.469</c:v>
                </c:pt>
                <c:pt idx="1">
                  <c:v>0.456</c:v>
                </c:pt>
                <c:pt idx="2">
                  <c:v>0.514</c:v>
                </c:pt>
                <c:pt idx="3">
                  <c:v>0.514</c:v>
                </c:pt>
                <c:pt idx="4">
                  <c:v>0.809</c:v>
                </c:pt>
              </c:numCache>
            </c:numRef>
          </c:val>
        </c:ser>
        <c:dLbls>
          <c:numFmt formatCode="0.00" sourceLinked="0"/>
          <c:txPr>
            <a:bodyPr/>
            <a:lstStyle/>
            <a:p>
              <a:pPr>
                <a:defRPr b="0" i="0" strike="noStrike" sz="1100" u="none">
                  <a:solidFill>
                    <a:srgbClr val="3A425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9DE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A425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256"/>
                </a:solidFill>
                <a:latin typeface="+mn-lt"/>
              </a:defRPr>
            </a:pPr>
            <a:r>
              <a:rPr sz="1400" b="0" i="0" u="none" strike="noStrike">
                <a:solidFill>
                  <a:srgbClr val="3A4256"/>
                </a:solidFill>
                <a:latin typeface="+mn-lt"/>
              </a:rPr>
              <a:t>Task success by understanding stage (5 seeds × 400 tasks)</a:t>
            </a:r>
          </a:p>
        </c:rich>
      </c:tx>
      <c:layout/>
      <c:overlay val="0"/>
    </c:title>
    <c:autoTitleDeleted val="0"/>
    <c:plotArea>
      <c:layout/>
      <c:barChart>
        <c:barDir val="col"/>
        <c:grouping val="clustered"/>
        <c:varyColors val="0"/>
        <c:ser>
          <c:idx val="0"/>
          <c:order val="0"/>
          <c:tx>
            <c:strRef>
              <c:f>Sheet1!$B$1</c:f>
              <c:strCache>
                <c:ptCount val="1"/>
                <c:pt idx="0">
                  <c:v>ATLAS</c:v>
                </c:pt>
              </c:strCache>
            </c:strRef>
          </c:tx>
          <c:spPr>
            <a:solidFill>
              <a:srgbClr val="E8A33D"/>
            </a:solidFill>
            <a:effectLst/>
          </c:spPr>
          <c:invertIfNegative val="0"/>
          <c:dLbls>
            <c:numFmt formatCode="#,##0" sourceLinked="0"/>
            <c:txPr>
              <a:bodyPr/>
              <a:lstStyle/>
              <a:p>
                <a:pPr>
                  <a:defRPr b="0" i="0" strike="noStrike" sz="1100" u="none">
                    <a:solidFill>
                      <a:srgbClr val="3A4256"/>
                    </a:solidFill>
                    <a:latin typeface="+mn-lt"/>
                  </a:defRPr>
                </a:pPr>
              </a:p>
            </c:txPr>
            <c:showLegendKey val="0"/>
            <c:showVal val="0"/>
            <c:showCatName val="0"/>
            <c:showSerName val="0"/>
            <c:showPercent val="0"/>
            <c:showBubbleSize val="0"/>
            <c:showLeaderLines val="0"/>
          </c:dLbls>
          <c:cat>
            <c:multiLvlStrRef>
              <c:f>Sheet1!$A$2:$A$6</c:f>
              <c:multiLvlStrCache>
                <c:ptCount val="5"/>
                <c:lvl>
                  <c:pt idx="0">
                    <c:v>Oracle</c:v>
                  </c:pt>
                  <c:pt idx="1">
                    <c:v>Classifier (default)</c:v>
                  </c:pt>
                  <c:pt idx="2">
                    <c:v>20% corrupted</c:v>
                  </c:pt>
                  <c:pt idx="3">
                    <c:v>40% corrupted</c:v>
                  </c:pt>
                  <c:pt idx="4">
                    <c:v>Local LLM (0.5B)</c:v>
                  </c:pt>
                </c:lvl>
              </c:multiLvlStrCache>
            </c:multiLvlStrRef>
          </c:cat>
          <c:val>
            <c:numRef>
              <c:f>Sheet1!$B$2:$B$6</c:f>
              <c:numCache>
                <c:formatCode>General</c:formatCode>
                <c:ptCount val="5"/>
                <c:pt idx="0">
                  <c:v>0.922</c:v>
                </c:pt>
                <c:pt idx="1">
                  <c:v>0.902</c:v>
                </c:pt>
                <c:pt idx="2">
                  <c:v>0.806</c:v>
                </c:pt>
                <c:pt idx="3">
                  <c:v>0.661</c:v>
                </c:pt>
                <c:pt idx="4">
                  <c:v>0.49</c:v>
                </c:pt>
              </c:numCache>
            </c:numRef>
          </c:val>
        </c:ser>
        <c:ser>
          <c:idx val="1"/>
          <c:order val="1"/>
          <c:tx>
            <c:strRef>
              <c:f>Sheet1!$C$1</c:f>
              <c:strCache>
                <c:ptCount val="1"/>
                <c:pt idx="0">
                  <c:v>B4 Static</c:v>
                </c:pt>
              </c:strCache>
            </c:strRef>
          </c:tx>
          <c:spPr>
            <a:solidFill>
              <a:srgbClr val="8A94A6"/>
            </a:solidFill>
            <a:effectLst/>
          </c:spPr>
          <c:invertIfNegative val="0"/>
          <c:dLbls>
            <c:numFmt formatCode="#,##0" sourceLinked="0"/>
            <c:txPr>
              <a:bodyPr/>
              <a:lstStyle/>
              <a:p>
                <a:pPr>
                  <a:defRPr b="0" i="0" strike="noStrike" sz="1100" u="none">
                    <a:solidFill>
                      <a:srgbClr val="3A4256"/>
                    </a:solidFill>
                    <a:latin typeface="+mn-lt"/>
                  </a:defRPr>
                </a:pPr>
              </a:p>
            </c:txPr>
            <c:showLegendKey val="0"/>
            <c:showVal val="0"/>
            <c:showCatName val="0"/>
            <c:showSerName val="0"/>
            <c:showPercent val="0"/>
            <c:showBubbleSize val="0"/>
            <c:showLeaderLines val="0"/>
          </c:dLbls>
          <c:cat>
            <c:multiLvlStrRef>
              <c:f>Sheet1!$A$2:$A$6</c:f>
              <c:multiLvlStrCache>
                <c:ptCount val="5"/>
                <c:lvl>
                  <c:pt idx="0">
                    <c:v>Oracle</c:v>
                  </c:pt>
                  <c:pt idx="1">
                    <c:v>Classifier (default)</c:v>
                  </c:pt>
                  <c:pt idx="2">
                    <c:v>20% corrupted</c:v>
                  </c:pt>
                  <c:pt idx="3">
                    <c:v>40% corrupted</c:v>
                  </c:pt>
                  <c:pt idx="4">
                    <c:v>Local LLM (0.5B)</c:v>
                  </c:pt>
                </c:lvl>
              </c:multiLvlStrCache>
            </c:multiLvlStrRef>
          </c:cat>
          <c:val>
            <c:numRef>
              <c:f>Sheet1!$C$2:$C$6</c:f>
              <c:numCache>
                <c:formatCode>General</c:formatCode>
                <c:ptCount val="5"/>
                <c:pt idx="0">
                  <c:v>0.863</c:v>
                </c:pt>
                <c:pt idx="1">
                  <c:v>0.831</c:v>
                </c:pt>
                <c:pt idx="2">
                  <c:v>0.748</c:v>
                </c:pt>
                <c:pt idx="3">
                  <c:v>0.61</c:v>
                </c:pt>
                <c:pt idx="4">
                  <c:v>0.442</c:v>
                </c:pt>
              </c:numCache>
            </c:numRef>
          </c:val>
        </c:ser>
        <c:ser>
          <c:idx val="2"/>
          <c:order val="2"/>
          <c:tx>
            <c:strRef>
              <c:f>Sheet1!$D$1</c:f>
              <c:strCache>
                <c:ptCount val="1"/>
                <c:pt idx="0">
                  <c:v>B5 Bandit</c:v>
                </c:pt>
              </c:strCache>
            </c:strRef>
          </c:tx>
          <c:spPr>
            <a:solidFill>
              <a:srgbClr val="B8C4D6"/>
            </a:solidFill>
            <a:effectLst/>
          </c:spPr>
          <c:invertIfNegative val="0"/>
          <c:dLbls>
            <c:numFmt formatCode="#,##0" sourceLinked="0"/>
            <c:txPr>
              <a:bodyPr/>
              <a:lstStyle/>
              <a:p>
                <a:pPr>
                  <a:defRPr b="0" i="0" strike="noStrike" sz="1100" u="none">
                    <a:solidFill>
                      <a:srgbClr val="3A4256"/>
                    </a:solidFill>
                    <a:latin typeface="+mn-lt"/>
                  </a:defRPr>
                </a:pPr>
              </a:p>
            </c:txPr>
            <c:showLegendKey val="0"/>
            <c:showVal val="0"/>
            <c:showCatName val="0"/>
            <c:showSerName val="0"/>
            <c:showPercent val="0"/>
            <c:showBubbleSize val="0"/>
            <c:showLeaderLines val="0"/>
          </c:dLbls>
          <c:cat>
            <c:multiLvlStrRef>
              <c:f>Sheet1!$A$2:$A$6</c:f>
              <c:multiLvlStrCache>
                <c:ptCount val="5"/>
                <c:lvl>
                  <c:pt idx="0">
                    <c:v>Oracle</c:v>
                  </c:pt>
                  <c:pt idx="1">
                    <c:v>Classifier (default)</c:v>
                  </c:pt>
                  <c:pt idx="2">
                    <c:v>20% corrupted</c:v>
                  </c:pt>
                  <c:pt idx="3">
                    <c:v>40% corrupted</c:v>
                  </c:pt>
                  <c:pt idx="4">
                    <c:v>Local LLM (0.5B)</c:v>
                  </c:pt>
                </c:lvl>
              </c:multiLvlStrCache>
            </c:multiLvlStrRef>
          </c:cat>
          <c:val>
            <c:numRef>
              <c:f>Sheet1!$D$2:$D$6</c:f>
              <c:numCache>
                <c:formatCode>General</c:formatCode>
                <c:ptCount val="5"/>
                <c:pt idx="0">
                  <c:v>0.849</c:v>
                </c:pt>
                <c:pt idx="1">
                  <c:v>0.819</c:v>
                </c:pt>
                <c:pt idx="2">
                  <c:v>0.73</c:v>
                </c:pt>
                <c:pt idx="3">
                  <c:v>0.585</c:v>
                </c:pt>
                <c:pt idx="4">
                  <c:v>0.443</c:v>
                </c:pt>
              </c:numCache>
            </c:numRef>
          </c:val>
        </c:ser>
        <c:dLbls>
          <c:numFmt formatCode="#,##0" sourceLinked="0"/>
          <c:txPr>
            <a:bodyPr/>
            <a:lstStyle/>
            <a:p>
              <a:pPr>
                <a:defRPr b="0" i="0" strike="noStrike" sz="1100" u="none">
                  <a:solidFill>
                    <a:srgbClr val="3A4256"/>
                  </a:solidFill>
                  <a:latin typeface="+mn-lt"/>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9DE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A425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256"/>
                </a:solidFill>
                <a:latin typeface="+mn-lt"/>
              </a:defRPr>
            </a:pPr>
            <a:r>
              <a:rPr sz="1400" b="0" i="0" u="none" strike="noStrike">
                <a:solidFill>
                  <a:srgbClr val="3A4256"/>
                </a:solidFill>
                <a:latin typeface="+mn-lt"/>
              </a:rPr>
              <a:t>Success lost when a component is removed (E3, drift, 20 seeds)</a:t>
            </a:r>
          </a:p>
        </c:rich>
      </c:tx>
      <c:layout/>
      <c:overlay val="0"/>
    </c:title>
    <c:autoTitleDeleted val="0"/>
    <c:plotArea>
      <c:layout/>
      <c:barChart>
        <c:barDir val="bar"/>
        <c:grouping val="clustered"/>
        <c:varyColors val="0"/>
        <c:ser>
          <c:idx val="0"/>
          <c:order val="0"/>
          <c:tx>
            <c:strRef>
              <c:f>Sheet1!$B$1</c:f>
              <c:strCache>
                <c:ptCount val="1"/>
                <c:pt idx="0">
                  <c:v>Success lost when removed</c:v>
                </c:pt>
              </c:strCache>
            </c:strRef>
          </c:tx>
          <c:spPr>
            <a:solidFill>
              <a:srgbClr val="2A9D8F"/>
            </a:solidFill>
            <a:effectLst/>
          </c:spPr>
          <c:invertIfNegative val="0"/>
          <c:dLbls>
            <c:numFmt formatCode="+0.000;-0.000;0.000" sourceLinked="0"/>
            <c:txPr>
              <a:bodyPr/>
              <a:lstStyle/>
              <a:p>
                <a:pPr>
                  <a:defRPr b="0" i="0" strike="noStrike" sz="1100" u="none">
                    <a:solidFill>
                      <a:srgbClr val="3A4256"/>
                    </a:solidFill>
                    <a:latin typeface="+mn-lt"/>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C8553D"/>
              </a:solidFill>
              <a:effectLst/>
            </c:spPr>
          </c:dPt>
          <c:dPt>
            <c:idx val="2"/>
            <c:invertIfNegative val="0"/>
            <c:bubble3D val="0"/>
            <c:spPr>
              <a:solidFill>
                <a:srgbClr val="C8553D"/>
              </a:solidFill>
              <a:effectLst/>
            </c:spPr>
          </c:dPt>
          <c:dPt>
            <c:idx val="3"/>
            <c:invertIfNegative val="0"/>
            <c:bubble3D val="0"/>
            <c:spPr>
              <a:solidFill>
                <a:srgbClr val="2A9D8F"/>
              </a:solidFill>
              <a:effectLst/>
            </c:spPr>
          </c:dPt>
          <c:dPt>
            <c:idx val="4"/>
            <c:invertIfNegative val="0"/>
            <c:bubble3D val="0"/>
            <c:spPr>
              <a:solidFill>
                <a:srgbClr val="2A9D8F"/>
              </a:solidFill>
              <a:effectLst/>
            </c:spPr>
          </c:dPt>
          <c:dPt>
            <c:idx val="5"/>
            <c:invertIfNegative val="0"/>
            <c:bubble3D val="0"/>
            <c:spPr>
              <a:solidFill>
                <a:srgbClr val="2A9D8F"/>
              </a:solidFill>
              <a:effectLst/>
            </c:spPr>
          </c:dPt>
          <c:dPt>
            <c:idx val="6"/>
            <c:invertIfNegative val="0"/>
            <c:bubble3D val="0"/>
            <c:spPr>
              <a:solidFill>
                <a:srgbClr val="2A9D8F"/>
              </a:solidFill>
              <a:effectLst/>
            </c:spPr>
          </c:dPt>
          <c:dPt>
            <c:idx val="7"/>
            <c:invertIfNegative val="0"/>
            <c:bubble3D val="0"/>
            <c:spPr>
              <a:solidFill>
                <a:srgbClr val="2A9D8F"/>
              </a:solidFill>
              <a:effectLst/>
            </c:spPr>
          </c:dPt>
          <c:dPt>
            <c:idx val="8"/>
            <c:invertIfNegative val="0"/>
            <c:bubble3D val="0"/>
            <c:spPr>
              <a:solidFill>
                <a:srgbClr val="2A9D8F"/>
              </a:solidFill>
              <a:effectLst/>
            </c:spPr>
          </c:dPt>
          <c:dPt>
            <c:idx val="9"/>
            <c:invertIfNegative val="0"/>
            <c:bubble3D val="0"/>
            <c:spPr>
              <a:solidFill>
                <a:srgbClr val="2A9D8F"/>
              </a:solidFill>
              <a:effectLst/>
            </c:spPr>
          </c:dPt>
          <c:cat>
            <c:multiLvlStrRef>
              <c:f>Sheet1!$A$2:$A$11</c:f>
              <c:multiLvlStrCache>
                <c:ptCount val="10"/>
                <c:lvl>
                  <c:pt idx="0">
                    <c:v>Cost-awareness (A3)</c:v>
                  </c:pt>
                  <c:pt idx="1">
                    <c:v>Per-family context (A1)</c:v>
                  </c:pt>
                  <c:pt idx="2">
                    <c:v>Exploration (A9)</c:v>
                  </c:pt>
                  <c:pt idx="3">
                    <c:v>Learned latency (A6)</c:v>
                  </c:pt>
                  <c:pt idx="4">
                    <c:v>Learned reliability (A2)</c:v>
                  </c:pt>
                  <c:pt idx="5">
                    <c:v>Fallback replan (A8)</c:v>
                  </c:pt>
                  <c:pt idx="6">
                    <c:v>Feasibility filter (A7)</c:v>
                  </c:pt>
                  <c:pt idx="7">
                    <c:v>Imputation (A10)</c:v>
                  </c:pt>
                  <c:pt idx="8">
                    <c:v>VoI stopping (A5)</c:v>
                  </c:pt>
                  <c:pt idx="9">
                    <c:v>Plan graph (A4)</c:v>
                  </c:pt>
                </c:lvl>
              </c:multiLvlStrCache>
            </c:multiLvlStrRef>
          </c:cat>
          <c:val>
            <c:numRef>
              <c:f>Sheet1!$B$2:$B$11</c:f>
              <c:numCache>
                <c:formatCode>General</c:formatCode>
                <c:ptCount val="10"/>
                <c:pt idx="0">
                  <c:v>-0.012</c:v>
                </c:pt>
                <c:pt idx="1">
                  <c:v>-0.01</c:v>
                </c:pt>
                <c:pt idx="2">
                  <c:v>-0.007</c:v>
                </c:pt>
                <c:pt idx="3">
                  <c:v>0</c:v>
                </c:pt>
                <c:pt idx="4">
                  <c:v>0.001</c:v>
                </c:pt>
                <c:pt idx="5">
                  <c:v>0.005</c:v>
                </c:pt>
                <c:pt idx="6">
                  <c:v>0.014</c:v>
                </c:pt>
                <c:pt idx="7">
                  <c:v>0.015</c:v>
                </c:pt>
                <c:pt idx="8">
                  <c:v>0.073</c:v>
                </c:pt>
                <c:pt idx="9">
                  <c:v>0.279</c:v>
                </c:pt>
              </c:numCache>
            </c:numRef>
          </c:val>
        </c:ser>
        <c:dLbls>
          <c:numFmt formatCode="+0.000;-0.000;0.000" sourceLinked="0"/>
          <c:txPr>
            <a:bodyPr/>
            <a:lstStyle/>
            <a:p>
              <a:pPr>
                <a:defRPr b="0" i="0" strike="noStrike" sz="1100" u="none">
                  <a:solidFill>
                    <a:srgbClr val="3A425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F"/>
                </a:solidFill>
                <a:latin typeface="+mn-lt"/>
              </a:defRPr>
            </a:pPr>
            <a:endParaRPr lang="en-US"/>
          </a:p>
        </c:txPr>
        <c:crossAx val="2094734552"/>
        <c:crosses val="autoZero"/>
        <c:auto val="1"/>
        <c:lblAlgn val="ctr"/>
        <c:noMultiLvlLbl val="1"/>
      </c:catAx>
      <c:valAx>
        <c:axId val="2094734552"/>
        <c:scaling>
          <c:orientation val="minMax"/>
          <c:max val="0.3"/>
          <c:min val="-0.05"/>
        </c:scaling>
        <c:delete val="0"/>
        <c:axPos val="b"/>
        <c:majorGridlines>
          <c:spPr>
            <a:ln w="9525" cap="flat">
              <a:solidFill>
                <a:srgbClr val="D9DE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 is a router that sits in front of an LLM agent's tools. For each query it decides which tools to call, under explicit quality, reliability and latency targets, and it learns from every call. Everything runs locally with open-source components; costs in this deck are simulated per-call prices, not real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forces make tool choice hard: price, tail latency and drift. The research question asks for sufficiency, not just relevance: the set must be enough to answer, and nothing more. These are the five metrics every experiment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3 happen before any call: understanding, exact plan search over typed tool capabilities, and a constrained choice using posterior samples. Steps 4 to 6 happen during and after execution. The censored-feedback correction in step 6 is new in this version: answers replaced by verification used to be ignored, which inflated the quality of tools whose mistakes verification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ingredient here is new on its own; the contribution is the combination for heterogeneous tools, and the ablations measure what each part is worth. The plan graph matters most by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E2 runs 3000 tasks per seed with five drift events: an overloaded search provider, replication lag, an index outage, a slow sandbox and a provider upgrade. ATLAS stays within 0.002 of a privileged oracle. Stationary results (E1) show the same ranking: 0.907 vs 0.833 for 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framing of cost. Costs are simulated per-call prices. With the default quality target, ATLAS spends more to get more right. Lowering the target moves it along the amber curve; at 0.6 or 0.7 it dominates all learned baselines on both success and cost, but that operating point was chosen after seeing the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evaluation answers the 'it is only a simulator' objection for tool behaviour. Tool outputs, errors and execution time are real; the data is generated so that ground truth is known. During the incident ATLAS learns the primary is failing and switches to the replica, which is correct for every quarter except the latest. The contextual bandit fails calculation questions entirely because it cannot plan a SQL-then-compute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E6 swaps the understanding stage under the same routers. ATLAS stays 5 to 8 points ahead whether understanding is perfect, corrupted or poor. The 0.5B local LLM with grammar-constrained decoding is the weakest option tried; a larger model did not fit on the available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the success difference between full ATLAS and ATLAS with one component removed. Negative values mean removing the component raised success, at a higher cost: those components exist to save money, not to raise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results a reviewer should hear before quoting any number. The scaling hypothesis failed and stays failed; the fix that did help, censored-feedback correction, improved accuracy but raised cost. Everything here is reported in the repository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router that runs in the experiments runs behind the API. Feedback from callers updates answer quality; execution statistics are learned on every call. The CI pipeline runs lint, the test suite, a quick benchmark and a container smoke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findings and the open problem. All experiments are reproducible from the repository with fixed seeds; the README lists the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611880"/>
            <a:ext cx="10058400" cy="118872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200" b="1" dirty="0">
                <a:solidFill>
                  <a:schemeClr val="tx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ATLAS · adaptive tool routing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ATLAS: adaptive, constrained tool routing for LLM agents</a:t>
            </a:r>
            <a:endParaRPr lang="en-US" sz="4800" dirty="0"/>
          </a:p>
        </p:txBody>
      </p:sp>
      <p:sp>
        <p:nvSpPr>
          <p:cNvPr id="3" name="Text 0"/>
          <p:cNvSpPr/>
          <p:nvPr>
            <p:ph idx="101" type="body" hasCustomPrompt="1"/>
          </p:nvPr>
        </p:nvSpPr>
        <p:spPr>
          <a:xfrm>
            <a:off x="731520" y="3611880"/>
            <a:ext cx="10058400" cy="1188720"/>
          </a:xfrm>
          <a:prstGeom prst="rect">
            <a:avLst/>
          </a:prstGeom>
          <a:noFill/>
          <a:ln/>
        </p:spPr>
        <p:txBody>
          <a:bodyPr wrap="square" rtlCol="0" anchor="t"/>
          <a:lstStyle/>
          <a:p>
            <a:pPr indent="0" marL="0">
              <a:buNone/>
            </a:pPr>
            <a:r>
              <a:rPr lang="en-US" sz="2000" dirty="0">
                <a:solidFill>
                  <a:schemeClr val="accent1"/>
                </a:solidFill>
              </a:rPr>
              <a:t>Choose the smallest sufficient set of tools for each query, and keep choosing well as tools slow down, fail and drift</a:t>
            </a:r>
            <a:endParaRPr lang="en-US" sz="2000" dirty="0"/>
          </a:p>
        </p:txBody>
      </p:sp>
      <p:sp>
        <p:nvSpPr>
          <p:cNvPr id="4" name="Text 2"/>
          <p:cNvSpPr txBox="1"/>
          <p:nvPr/>
        </p:nvSpPr>
        <p:spPr>
          <a:xfrm>
            <a:off x="731520" y="5760720"/>
            <a:ext cx="10058400" cy="365760"/>
          </a:xfrm>
          <a:prstGeom prst="rect">
            <a:avLst/>
          </a:prstGeom>
          <a:noFill/>
          <a:ln/>
        </p:spPr>
        <p:txBody>
          <a:bodyPr wrap="square" lIns="0" tIns="0" rIns="0" bIns="0" rtlCol="0" anchor="ctr"/>
          <a:lstStyle/>
          <a:p>
            <a:pPr indent="0" marL="0">
              <a:buNone/>
            </a:pPr>
            <a:r>
              <a:rPr lang="en-US" sz="1400" dirty="0">
                <a:solidFill>
                  <a:srgbClr val="8A94A6"/>
                </a:solidFill>
              </a:rPr>
              <a:t>Research · experiments · production service — fully local, open-source stack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Agents pick tools as if tools never change</a:t>
            </a:r>
            <a:endParaRPr lang="en-US" sz="3200" dirty="0"/>
          </a:p>
        </p:txBody>
      </p:sp>
      <p:sp>
        <p:nvSpPr>
          <p:cNvPr id="3" name="badge $"/>
          <p:cNvSpPr/>
          <p:nvPr/>
        </p:nvSpPr>
        <p:spPr>
          <a:xfrm>
            <a:off x="640080" y="1508760"/>
            <a:ext cx="502920" cy="502920"/>
          </a:xfrm>
          <a:prstGeom prst="ellipse">
            <a:avLst/>
          </a:prstGeom>
          <a:solidFill>
            <a:srgbClr val="E8A33D"/>
          </a:solidFill>
          <a:ln w="12700">
            <a:solidFill>
              <a:srgbClr val="E8A33D"/>
            </a:solidFill>
            <a:prstDash val="solid"/>
          </a:ln>
        </p:spPr>
      </p:sp>
      <p:sp>
        <p:nvSpPr>
          <p:cNvPr id="4" name="Text 2"/>
          <p:cNvSpPr txBox="1"/>
          <p:nvPr/>
        </p:nvSpPr>
        <p:spPr>
          <a:xfrm>
            <a:off x="640080" y="1508760"/>
            <a:ext cx="502920" cy="502920"/>
          </a:xfrm>
          <a:prstGeom prst="rect">
            <a:avLst/>
          </a:prstGeom>
          <a:noFill/>
          <a:ln/>
        </p:spPr>
        <p:txBody>
          <a:bodyPr wrap="square" lIns="0" tIns="0" rIns="0" bIns="0"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a:t>
            </a:r>
            <a:endParaRPr lang="en-US" sz="1600" dirty="0"/>
          </a:p>
        </p:txBody>
      </p:sp>
      <p:sp>
        <p:nvSpPr>
          <p:cNvPr id="5" name="Text 3"/>
          <p:cNvSpPr txBox="1"/>
          <p:nvPr/>
        </p:nvSpPr>
        <p:spPr>
          <a:xfrm>
            <a:off x="1371600" y="1463040"/>
            <a:ext cx="5669280" cy="411480"/>
          </a:xfrm>
          <a:prstGeom prst="rect">
            <a:avLst/>
          </a:prstGeom>
          <a:noFill/>
          <a:ln/>
        </p:spPr>
        <p:txBody>
          <a:bodyPr wrap="square" lIns="0" tIns="0" rIns="0" bIns="0" rtlCol="0" anchor="t"/>
          <a:lstStyle/>
          <a:p>
            <a:pPr indent="0" marL="0">
              <a:buNone/>
            </a:pPr>
            <a:r>
              <a:rPr lang="en-US" sz="2000" b="1" dirty="0">
                <a:solidFill>
                  <a:schemeClr val="tx1"/>
                </a:solidFill>
              </a:rPr>
              <a:t>Cost</a:t>
            </a:r>
            <a:endParaRPr lang="en-US" sz="2000" dirty="0"/>
          </a:p>
        </p:txBody>
      </p:sp>
      <p:sp>
        <p:nvSpPr>
          <p:cNvPr id="6" name="Text 4"/>
          <p:cNvSpPr txBox="1"/>
          <p:nvPr/>
        </p:nvSpPr>
        <p:spPr>
          <a:xfrm>
            <a:off x="1371600" y="1892808"/>
            <a:ext cx="5669280" cy="868680"/>
          </a:xfrm>
          <a:prstGeom prst="rect">
            <a:avLst/>
          </a:prstGeom>
          <a:noFill/>
          <a:ln/>
        </p:spPr>
        <p:txBody>
          <a:bodyPr wrap="square" lIns="0" tIns="0" rIns="0" bIns="0" rtlCol="0" anchor="t"/>
          <a:lstStyle/>
          <a:p>
            <a:pPr indent="0" marL="0">
              <a:buNone/>
            </a:pPr>
            <a:r>
              <a:rPr lang="en-US" sz="1500" dirty="0">
                <a:solidFill>
                  <a:schemeClr val="tx2"/>
                </a:solidFill>
              </a:rPr>
              <a:t>Calling every plausible tool multiplies spend; the cheapest tool is often subtly wrong (stale replica, outdated archive).</a:t>
            </a:r>
            <a:endParaRPr lang="en-US" sz="1500" dirty="0"/>
          </a:p>
        </p:txBody>
      </p:sp>
      <p:sp>
        <p:nvSpPr>
          <p:cNvPr id="7" name="badge ⏱"/>
          <p:cNvSpPr/>
          <p:nvPr/>
        </p:nvSpPr>
        <p:spPr>
          <a:xfrm>
            <a:off x="640080" y="2971800"/>
            <a:ext cx="502920" cy="502920"/>
          </a:xfrm>
          <a:prstGeom prst="ellipse">
            <a:avLst/>
          </a:prstGeom>
          <a:solidFill>
            <a:srgbClr val="E8A33D"/>
          </a:solidFill>
          <a:ln w="12700">
            <a:solidFill>
              <a:srgbClr val="E8A33D"/>
            </a:solidFill>
            <a:prstDash val="solid"/>
          </a:ln>
        </p:spPr>
      </p:sp>
      <p:sp>
        <p:nvSpPr>
          <p:cNvPr id="8" name="Text 6"/>
          <p:cNvSpPr txBox="1"/>
          <p:nvPr/>
        </p:nvSpPr>
        <p:spPr>
          <a:xfrm>
            <a:off x="640080" y="2971800"/>
            <a:ext cx="502920" cy="502920"/>
          </a:xfrm>
          <a:prstGeom prst="rect">
            <a:avLst/>
          </a:prstGeom>
          <a:noFill/>
          <a:ln/>
        </p:spPr>
        <p:txBody>
          <a:bodyPr wrap="square" lIns="0" tIns="0" rIns="0" bIns="0"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a:t>
            </a:r>
            <a:endParaRPr lang="en-US" sz="1600" dirty="0"/>
          </a:p>
        </p:txBody>
      </p:sp>
      <p:sp>
        <p:nvSpPr>
          <p:cNvPr id="9" name="Text 7"/>
          <p:cNvSpPr txBox="1"/>
          <p:nvPr/>
        </p:nvSpPr>
        <p:spPr>
          <a:xfrm>
            <a:off x="1371600" y="2926080"/>
            <a:ext cx="5669280" cy="411480"/>
          </a:xfrm>
          <a:prstGeom prst="rect">
            <a:avLst/>
          </a:prstGeom>
          <a:noFill/>
          <a:ln/>
        </p:spPr>
        <p:txBody>
          <a:bodyPr wrap="square" lIns="0" tIns="0" rIns="0" bIns="0" rtlCol="0" anchor="t"/>
          <a:lstStyle/>
          <a:p>
            <a:pPr indent="0" marL="0">
              <a:buNone/>
            </a:pPr>
            <a:r>
              <a:rPr lang="en-US" sz="2000" b="1" dirty="0">
                <a:solidFill>
                  <a:schemeClr val="tx1"/>
                </a:solidFill>
              </a:rPr>
              <a:t>Latency</a:t>
            </a:r>
            <a:endParaRPr lang="en-US" sz="2000" dirty="0"/>
          </a:p>
        </p:txBody>
      </p:sp>
      <p:sp>
        <p:nvSpPr>
          <p:cNvPr id="10" name="Text 8"/>
          <p:cNvSpPr txBox="1"/>
          <p:nvPr/>
        </p:nvSpPr>
        <p:spPr>
          <a:xfrm>
            <a:off x="1371600" y="3355848"/>
            <a:ext cx="5669280" cy="868680"/>
          </a:xfrm>
          <a:prstGeom prst="rect">
            <a:avLst/>
          </a:prstGeom>
          <a:noFill/>
          <a:ln/>
        </p:spPr>
        <p:txBody>
          <a:bodyPr wrap="square" lIns="0" tIns="0" rIns="0" bIns="0" rtlCol="0" anchor="t"/>
          <a:lstStyle/>
          <a:p>
            <a:pPr indent="0" marL="0">
              <a:buNone/>
            </a:pPr>
            <a:r>
              <a:rPr lang="en-US" sz="1500" dirty="0">
                <a:solidFill>
                  <a:schemeClr val="tx2"/>
                </a:solidFill>
              </a:rPr>
              <a:t>Tools have heavy latency tails; a plan's latency is its critical path, not a sum of averages.</a:t>
            </a:r>
            <a:endParaRPr lang="en-US" sz="1500" dirty="0"/>
          </a:p>
        </p:txBody>
      </p:sp>
      <p:sp>
        <p:nvSpPr>
          <p:cNvPr id="11" name="badge ↯"/>
          <p:cNvSpPr/>
          <p:nvPr/>
        </p:nvSpPr>
        <p:spPr>
          <a:xfrm>
            <a:off x="640080" y="4434840"/>
            <a:ext cx="502920" cy="502920"/>
          </a:xfrm>
          <a:prstGeom prst="ellipse">
            <a:avLst/>
          </a:prstGeom>
          <a:solidFill>
            <a:srgbClr val="E8A33D"/>
          </a:solidFill>
          <a:ln w="12700">
            <a:solidFill>
              <a:srgbClr val="E8A33D"/>
            </a:solidFill>
            <a:prstDash val="solid"/>
          </a:ln>
        </p:spPr>
      </p:sp>
      <p:sp>
        <p:nvSpPr>
          <p:cNvPr id="12" name="Text 10"/>
          <p:cNvSpPr txBox="1"/>
          <p:nvPr/>
        </p:nvSpPr>
        <p:spPr>
          <a:xfrm>
            <a:off x="640080" y="4434840"/>
            <a:ext cx="502920" cy="502920"/>
          </a:xfrm>
          <a:prstGeom prst="rect">
            <a:avLst/>
          </a:prstGeom>
          <a:noFill/>
          <a:ln/>
        </p:spPr>
        <p:txBody>
          <a:bodyPr wrap="square" lIns="0" tIns="0" rIns="0" bIns="0"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a:t>
            </a:r>
            <a:endParaRPr lang="en-US" sz="1600" dirty="0"/>
          </a:p>
        </p:txBody>
      </p:sp>
      <p:sp>
        <p:nvSpPr>
          <p:cNvPr id="13" name="Text 11"/>
          <p:cNvSpPr txBox="1"/>
          <p:nvPr/>
        </p:nvSpPr>
        <p:spPr>
          <a:xfrm>
            <a:off x="1371600" y="4389120"/>
            <a:ext cx="5669280" cy="411480"/>
          </a:xfrm>
          <a:prstGeom prst="rect">
            <a:avLst/>
          </a:prstGeom>
          <a:noFill/>
          <a:ln/>
        </p:spPr>
        <p:txBody>
          <a:bodyPr wrap="square" lIns="0" tIns="0" rIns="0" bIns="0" rtlCol="0" anchor="t"/>
          <a:lstStyle/>
          <a:p>
            <a:pPr indent="0" marL="0">
              <a:buNone/>
            </a:pPr>
            <a:r>
              <a:rPr lang="en-US" sz="2000" b="1" dirty="0">
                <a:solidFill>
                  <a:schemeClr val="tx1"/>
                </a:solidFill>
              </a:rPr>
              <a:t>Reliability drift</a:t>
            </a:r>
            <a:endParaRPr lang="en-US" sz="2000" dirty="0"/>
          </a:p>
        </p:txBody>
      </p:sp>
      <p:sp>
        <p:nvSpPr>
          <p:cNvPr id="14" name="Text 12"/>
          <p:cNvSpPr txBox="1"/>
          <p:nvPr/>
        </p:nvSpPr>
        <p:spPr>
          <a:xfrm>
            <a:off x="1371600" y="4818888"/>
            <a:ext cx="5669280" cy="868680"/>
          </a:xfrm>
          <a:prstGeom prst="rect">
            <a:avLst/>
          </a:prstGeom>
          <a:noFill/>
          <a:ln/>
        </p:spPr>
        <p:txBody>
          <a:bodyPr wrap="square" lIns="0" tIns="0" rIns="0" bIns="0" rtlCol="0" anchor="t"/>
          <a:lstStyle/>
          <a:p>
            <a:pPr indent="0" marL="0">
              <a:buNone/>
            </a:pPr>
            <a:r>
              <a:rPr lang="en-US" sz="1500" dirty="0">
                <a:solidFill>
                  <a:schemeClr val="tx2"/>
                </a:solidFill>
              </a:rPr>
              <a:t>Outages, overloads and noisy neighbours change which tool is best — static rules and offline-trained routers do not notice.</a:t>
            </a:r>
            <a:endParaRPr lang="en-US" sz="1500" dirty="0"/>
          </a:p>
        </p:txBody>
      </p:sp>
      <p:sp>
        <p:nvSpPr>
          <p:cNvPr id="15" name="question card"/>
          <p:cNvSpPr/>
          <p:nvPr/>
        </p:nvSpPr>
        <p:spPr>
          <a:xfrm>
            <a:off x="7589520" y="1463040"/>
            <a:ext cx="4023360" cy="4206240"/>
          </a:xfrm>
          <a:prstGeom prst="roundRect">
            <a:avLst>
              <a:gd name="adj" fmla="val 1818"/>
            </a:avLst>
          </a:prstGeom>
          <a:solidFill>
            <a:srgbClr val="EEF1F5"/>
          </a:solidFill>
          <a:ln w="12700">
            <a:solidFill>
              <a:srgbClr val="EEF1F5"/>
            </a:solidFill>
            <a:prstDash val="solid"/>
          </a:ln>
        </p:spPr>
      </p:sp>
      <p:sp>
        <p:nvSpPr>
          <p:cNvPr id="16" name="Text 14"/>
          <p:cNvSpPr txBox="1"/>
          <p:nvPr/>
        </p:nvSpPr>
        <p:spPr>
          <a:xfrm>
            <a:off x="7863840" y="1691640"/>
            <a:ext cx="3474720" cy="365760"/>
          </a:xfrm>
          <a:prstGeom prst="rect">
            <a:avLst/>
          </a:prstGeom>
          <a:noFill/>
          <a:ln/>
        </p:spPr>
        <p:txBody>
          <a:bodyPr wrap="square" lIns="0" tIns="0" rIns="0" bIns="0" rtlCol="0" anchor="t"/>
          <a:lstStyle/>
          <a:p>
            <a:pPr indent="0" marL="0">
              <a:buNone/>
            </a:pPr>
            <a:r>
              <a:rPr lang="en-US" sz="1400" b="1" dirty="0">
                <a:solidFill>
                  <a:schemeClr val="accent2"/>
                </a:solidFill>
              </a:rPr>
              <a:t>Research question</a:t>
            </a:r>
            <a:endParaRPr lang="en-US" sz="1400" dirty="0"/>
          </a:p>
        </p:txBody>
      </p:sp>
      <p:sp>
        <p:nvSpPr>
          <p:cNvPr id="17" name="Text 15"/>
          <p:cNvSpPr txBox="1"/>
          <p:nvPr/>
        </p:nvSpPr>
        <p:spPr>
          <a:xfrm>
            <a:off x="7863840" y="2148840"/>
            <a:ext cx="3474720" cy="2377440"/>
          </a:xfrm>
          <a:prstGeom prst="rect">
            <a:avLst/>
          </a:prstGeom>
          <a:noFill/>
          <a:ln/>
        </p:spPr>
        <p:txBody>
          <a:bodyPr wrap="square" lIns="0" tIns="0" rIns="0" bIns="0" rtlCol="0" anchor="t"/>
          <a:lstStyle/>
          <a:p>
            <a:pPr indent="0" marL="0">
              <a:buNone/>
            </a:pPr>
            <a:r>
              <a:rPr lang="en-US" sz="2000" i="1" dirty="0">
                <a:solidFill>
                  <a:schemeClr val="tx1"/>
                </a:solidFill>
                <a:latin typeface="Cambria" pitchFamily="34" charset="0"/>
                <a:ea typeface="Cambria" pitchFamily="34" charset="-122"/>
                <a:cs typeface="Cambria" pitchFamily="34" charset="-120"/>
              </a:rPr>
              <a:t>Can an agent select the smallest, fastest, most reliable set of tools needed to answer a query — and keep doing so as those tools change?</a:t>
            </a:r>
            <a:endParaRPr lang="en-US" sz="2000" dirty="0"/>
          </a:p>
        </p:txBody>
      </p:sp>
      <p:sp>
        <p:nvSpPr>
          <p:cNvPr id="18" name="Text 16"/>
          <p:cNvSpPr txBox="1"/>
          <p:nvPr/>
        </p:nvSpPr>
        <p:spPr>
          <a:xfrm>
            <a:off x="7863840" y="4663440"/>
            <a:ext cx="3474720" cy="822960"/>
          </a:xfrm>
          <a:prstGeom prst="rect">
            <a:avLst/>
          </a:prstGeom>
          <a:noFill/>
          <a:ln/>
        </p:spPr>
        <p:txBody>
          <a:bodyPr wrap="square" lIns="0" tIns="0" rIns="0" bIns="0" rtlCol="0" anchor="t"/>
          <a:lstStyle/>
          <a:p>
            <a:pPr indent="0" marL="0">
              <a:buNone/>
            </a:pPr>
            <a:r>
              <a:rPr lang="en-US" sz="1200" dirty="0">
                <a:solidFill>
                  <a:schemeClr val="tx2"/>
                </a:solidFill>
              </a:rPr>
              <a:t>Metrics: task success · tool calls · latency · cost per successful task · unnecessary calls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One decision per query: plan, pick, execute, stop, learn</a:t>
            </a:r>
            <a:endParaRPr lang="en-US" sz="3200" dirty="0"/>
          </a:p>
        </p:txBody>
      </p:sp>
      <p:sp>
        <p:nvSpPr>
          <p:cNvPr id="3" name="step 1"/>
          <p:cNvSpPr/>
          <p:nvPr/>
        </p:nvSpPr>
        <p:spPr>
          <a:xfrm>
            <a:off x="548640" y="1417320"/>
            <a:ext cx="3520440" cy="2148840"/>
          </a:xfrm>
          <a:prstGeom prst="roundRect">
            <a:avLst>
              <a:gd name="adj" fmla="val 3404"/>
            </a:avLst>
          </a:prstGeom>
          <a:solidFill>
            <a:srgbClr val="EEF1F5"/>
          </a:solidFill>
          <a:ln w="12700">
            <a:solidFill>
              <a:srgbClr val="EEF1F5"/>
            </a:solidFill>
            <a:prstDash val="solid"/>
          </a:ln>
        </p:spPr>
      </p:sp>
      <p:sp>
        <p:nvSpPr>
          <p:cNvPr id="4" name="badge 1"/>
          <p:cNvSpPr/>
          <p:nvPr/>
        </p:nvSpPr>
        <p:spPr>
          <a:xfrm>
            <a:off x="777240" y="1645920"/>
            <a:ext cx="502920" cy="502920"/>
          </a:xfrm>
          <a:prstGeom prst="ellipse">
            <a:avLst/>
          </a:prstGeom>
          <a:solidFill>
            <a:srgbClr val="2A9D8F"/>
          </a:solidFill>
          <a:ln w="12700">
            <a:solidFill>
              <a:srgbClr val="2A9D8F"/>
            </a:solidFill>
            <a:prstDash val="solid"/>
          </a:ln>
        </p:spPr>
      </p:sp>
      <p:sp>
        <p:nvSpPr>
          <p:cNvPr id="5" name="Text 3"/>
          <p:cNvSpPr txBox="1"/>
          <p:nvPr/>
        </p:nvSpPr>
        <p:spPr>
          <a:xfrm>
            <a:off x="777240" y="1645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417320" y="1673352"/>
            <a:ext cx="2514600" cy="457200"/>
          </a:xfrm>
          <a:prstGeom prst="rect">
            <a:avLst/>
          </a:prstGeom>
          <a:noFill/>
          <a:ln/>
        </p:spPr>
        <p:txBody>
          <a:bodyPr wrap="square" lIns="0" tIns="0" rIns="0" bIns="0" rtlCol="0" anchor="ctr"/>
          <a:lstStyle/>
          <a:p>
            <a:pPr indent="0" marL="0">
              <a:buNone/>
            </a:pPr>
            <a:r>
              <a:rPr lang="en-US" sz="1800" b="1" dirty="0">
                <a:solidFill>
                  <a:schemeClr val="tx1"/>
                </a:solidFill>
              </a:rPr>
              <a:t>Understand</a:t>
            </a:r>
            <a:endParaRPr lang="en-US" sz="1800" dirty="0"/>
          </a:p>
        </p:txBody>
      </p:sp>
      <p:sp>
        <p:nvSpPr>
          <p:cNvPr id="7" name="Text 5"/>
          <p:cNvSpPr txBox="1"/>
          <p:nvPr/>
        </p:nvSpPr>
        <p:spPr>
          <a:xfrm>
            <a:off x="777240" y="2331720"/>
            <a:ext cx="3108960" cy="1143000"/>
          </a:xfrm>
          <a:prstGeom prst="rect">
            <a:avLst/>
          </a:prstGeom>
          <a:noFill/>
          <a:ln/>
        </p:spPr>
        <p:txBody>
          <a:bodyPr wrap="square" lIns="0" tIns="0" rIns="0" bIns="0" rtlCol="0" anchor="t"/>
          <a:lstStyle/>
          <a:p>
            <a:pPr indent="0" marL="0">
              <a:buNone/>
            </a:pPr>
            <a:r>
              <a:rPr lang="en-US" sz="1400" dirty="0">
                <a:solidFill>
                  <a:schemeClr val="tx2"/>
                </a:solidFill>
              </a:rPr>
              <a:t>Predict required capability types (TF-IDF label-powerset classifier)</a:t>
            </a:r>
            <a:endParaRPr lang="en-US" sz="1400" dirty="0"/>
          </a:p>
        </p:txBody>
      </p:sp>
      <p:sp>
        <p:nvSpPr>
          <p:cNvPr id="8" name="step 2"/>
          <p:cNvSpPr/>
          <p:nvPr/>
        </p:nvSpPr>
        <p:spPr>
          <a:xfrm>
            <a:off x="4297680" y="1417320"/>
            <a:ext cx="3520440" cy="2148840"/>
          </a:xfrm>
          <a:prstGeom prst="roundRect">
            <a:avLst>
              <a:gd name="adj" fmla="val 3404"/>
            </a:avLst>
          </a:prstGeom>
          <a:solidFill>
            <a:srgbClr val="EEF1F5"/>
          </a:solidFill>
          <a:ln w="12700">
            <a:solidFill>
              <a:srgbClr val="EEF1F5"/>
            </a:solidFill>
            <a:prstDash val="solid"/>
          </a:ln>
        </p:spPr>
      </p:sp>
      <p:sp>
        <p:nvSpPr>
          <p:cNvPr id="9" name="badge 2"/>
          <p:cNvSpPr/>
          <p:nvPr/>
        </p:nvSpPr>
        <p:spPr>
          <a:xfrm>
            <a:off x="4526280" y="1645920"/>
            <a:ext cx="502920" cy="502920"/>
          </a:xfrm>
          <a:prstGeom prst="ellipse">
            <a:avLst/>
          </a:prstGeom>
          <a:solidFill>
            <a:srgbClr val="2A9D8F"/>
          </a:solidFill>
          <a:ln w="12700">
            <a:solidFill>
              <a:srgbClr val="2A9D8F"/>
            </a:solidFill>
            <a:prstDash val="solid"/>
          </a:ln>
        </p:spPr>
      </p:sp>
      <p:sp>
        <p:nvSpPr>
          <p:cNvPr id="10" name="Text 8"/>
          <p:cNvSpPr txBox="1"/>
          <p:nvPr/>
        </p:nvSpPr>
        <p:spPr>
          <a:xfrm>
            <a:off x="4526280" y="1645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5166360" y="1673352"/>
            <a:ext cx="2514600" cy="457200"/>
          </a:xfrm>
          <a:prstGeom prst="rect">
            <a:avLst/>
          </a:prstGeom>
          <a:noFill/>
          <a:ln/>
        </p:spPr>
        <p:txBody>
          <a:bodyPr wrap="square" lIns="0" tIns="0" rIns="0" bIns="0" rtlCol="0" anchor="ctr"/>
          <a:lstStyle/>
          <a:p>
            <a:pPr indent="0" marL="0">
              <a:buNone/>
            </a:pPr>
            <a:r>
              <a:rPr lang="en-US" sz="1800" b="1" dirty="0">
                <a:solidFill>
                  <a:schemeClr val="tx1"/>
                </a:solidFill>
              </a:rPr>
              <a:t>Plan search</a:t>
            </a:r>
            <a:endParaRPr lang="en-US" sz="1800" dirty="0"/>
          </a:p>
        </p:txBody>
      </p:sp>
      <p:sp>
        <p:nvSpPr>
          <p:cNvPr id="12" name="Text 10"/>
          <p:cNvSpPr txBox="1"/>
          <p:nvPr/>
        </p:nvSpPr>
        <p:spPr>
          <a:xfrm>
            <a:off x="4526280" y="2331720"/>
            <a:ext cx="3108960" cy="1143000"/>
          </a:xfrm>
          <a:prstGeom prst="rect">
            <a:avLst/>
          </a:prstGeom>
          <a:noFill/>
          <a:ln/>
        </p:spPr>
        <p:txBody>
          <a:bodyPr wrap="square" lIns="0" tIns="0" rIns="0" bIns="0" rtlCol="0" anchor="t"/>
          <a:lstStyle/>
          <a:p>
            <a:pPr indent="0" marL="0">
              <a:buNone/>
            </a:pPr>
            <a:r>
              <a:rPr lang="en-US" sz="1400" dirty="0">
                <a:solidFill>
                  <a:schemeClr val="tx2"/>
                </a:solidFill>
              </a:rPr>
              <a:t>Branch-and-bound over an AND–OR capability graph: k cheapest sufficient tool sets</a:t>
            </a:r>
            <a:endParaRPr lang="en-US" sz="1400" dirty="0"/>
          </a:p>
        </p:txBody>
      </p:sp>
      <p:sp>
        <p:nvSpPr>
          <p:cNvPr id="13" name="step 3"/>
          <p:cNvSpPr/>
          <p:nvPr/>
        </p:nvSpPr>
        <p:spPr>
          <a:xfrm>
            <a:off x="8046720" y="1417320"/>
            <a:ext cx="3520440" cy="2148840"/>
          </a:xfrm>
          <a:prstGeom prst="roundRect">
            <a:avLst>
              <a:gd name="adj" fmla="val 3404"/>
            </a:avLst>
          </a:prstGeom>
          <a:solidFill>
            <a:srgbClr val="EEF1F5"/>
          </a:solidFill>
          <a:ln w="12700">
            <a:solidFill>
              <a:srgbClr val="EEF1F5"/>
            </a:solidFill>
            <a:prstDash val="solid"/>
          </a:ln>
        </p:spPr>
      </p:sp>
      <p:sp>
        <p:nvSpPr>
          <p:cNvPr id="14" name="badge 3"/>
          <p:cNvSpPr/>
          <p:nvPr/>
        </p:nvSpPr>
        <p:spPr>
          <a:xfrm>
            <a:off x="8275320" y="1645920"/>
            <a:ext cx="502920" cy="502920"/>
          </a:xfrm>
          <a:prstGeom prst="ellipse">
            <a:avLst/>
          </a:prstGeom>
          <a:solidFill>
            <a:srgbClr val="2A9D8F"/>
          </a:solidFill>
          <a:ln w="12700">
            <a:solidFill>
              <a:srgbClr val="2A9D8F"/>
            </a:solidFill>
            <a:prstDash val="solid"/>
          </a:ln>
        </p:spPr>
      </p:sp>
      <p:sp>
        <p:nvSpPr>
          <p:cNvPr id="15" name="Text 13"/>
          <p:cNvSpPr txBox="1"/>
          <p:nvPr/>
        </p:nvSpPr>
        <p:spPr>
          <a:xfrm>
            <a:off x="8275320" y="1645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8915400" y="1673352"/>
            <a:ext cx="2514600" cy="457200"/>
          </a:xfrm>
          <a:prstGeom prst="rect">
            <a:avLst/>
          </a:prstGeom>
          <a:noFill/>
          <a:ln/>
        </p:spPr>
        <p:txBody>
          <a:bodyPr wrap="square" lIns="0" tIns="0" rIns="0" bIns="0" rtlCol="0" anchor="ctr"/>
          <a:lstStyle/>
          <a:p>
            <a:pPr indent="0" marL="0">
              <a:buNone/>
            </a:pPr>
            <a:r>
              <a:rPr lang="en-US" sz="1800" b="1" dirty="0">
                <a:solidFill>
                  <a:schemeClr val="tx1"/>
                </a:solidFill>
              </a:rPr>
              <a:t>Constrained pick</a:t>
            </a:r>
            <a:endParaRPr lang="en-US" sz="1800" dirty="0"/>
          </a:p>
        </p:txBody>
      </p:sp>
      <p:sp>
        <p:nvSpPr>
          <p:cNvPr id="17" name="Text 15"/>
          <p:cNvSpPr txBox="1"/>
          <p:nvPr/>
        </p:nvSpPr>
        <p:spPr>
          <a:xfrm>
            <a:off x="8275320" y="2331720"/>
            <a:ext cx="3108960" cy="1143000"/>
          </a:xfrm>
          <a:prstGeom prst="rect">
            <a:avLst/>
          </a:prstGeom>
          <a:noFill/>
          <a:ln/>
        </p:spPr>
        <p:txBody>
          <a:bodyPr wrap="square" lIns="0" tIns="0" rIns="0" bIns="0" rtlCol="0" anchor="t"/>
          <a:lstStyle/>
          <a:p>
            <a:pPr indent="0" marL="0">
              <a:buNone/>
            </a:pPr>
            <a:r>
              <a:rPr lang="en-US" sz="1400" dirty="0">
                <a:solidFill>
                  <a:schemeClr val="tx2"/>
                </a:solidFill>
              </a:rPr>
              <a:t>Thompson draws; min cost s.t. quality ≥ Qmin, reliability, P(latency &gt; budget) ≤ δ</a:t>
            </a:r>
            <a:endParaRPr lang="en-US" sz="1400" dirty="0"/>
          </a:p>
        </p:txBody>
      </p:sp>
      <p:sp>
        <p:nvSpPr>
          <p:cNvPr id="18" name="step 4"/>
          <p:cNvSpPr/>
          <p:nvPr/>
        </p:nvSpPr>
        <p:spPr>
          <a:xfrm>
            <a:off x="548640" y="3840480"/>
            <a:ext cx="3520440" cy="2148840"/>
          </a:xfrm>
          <a:prstGeom prst="roundRect">
            <a:avLst>
              <a:gd name="adj" fmla="val 3404"/>
            </a:avLst>
          </a:prstGeom>
          <a:solidFill>
            <a:srgbClr val="F7F3EA"/>
          </a:solidFill>
          <a:ln w="12700">
            <a:solidFill>
              <a:srgbClr val="F7F3EA"/>
            </a:solidFill>
            <a:prstDash val="solid"/>
          </a:ln>
        </p:spPr>
      </p:sp>
      <p:sp>
        <p:nvSpPr>
          <p:cNvPr id="19" name="badge 4"/>
          <p:cNvSpPr/>
          <p:nvPr/>
        </p:nvSpPr>
        <p:spPr>
          <a:xfrm>
            <a:off x="777240" y="4069080"/>
            <a:ext cx="502920" cy="502920"/>
          </a:xfrm>
          <a:prstGeom prst="ellipse">
            <a:avLst/>
          </a:prstGeom>
          <a:solidFill>
            <a:srgbClr val="E8A33D"/>
          </a:solidFill>
          <a:ln w="12700">
            <a:solidFill>
              <a:srgbClr val="E8A33D"/>
            </a:solidFill>
            <a:prstDash val="solid"/>
          </a:ln>
        </p:spPr>
      </p:sp>
      <p:sp>
        <p:nvSpPr>
          <p:cNvPr id="20" name="Text 18"/>
          <p:cNvSpPr txBox="1"/>
          <p:nvPr/>
        </p:nvSpPr>
        <p:spPr>
          <a:xfrm>
            <a:off x="777240" y="4069080"/>
            <a:ext cx="502920" cy="502920"/>
          </a:xfrm>
          <a:prstGeom prst="rect">
            <a:avLst/>
          </a:prstGeom>
          <a:noFill/>
          <a:ln/>
        </p:spPr>
        <p:txBody>
          <a:bodyPr wrap="square" lIns="0" tIns="0" rIns="0" bIns="0"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417320" y="4096512"/>
            <a:ext cx="2514600" cy="457200"/>
          </a:xfrm>
          <a:prstGeom prst="rect">
            <a:avLst/>
          </a:prstGeom>
          <a:noFill/>
          <a:ln/>
        </p:spPr>
        <p:txBody>
          <a:bodyPr wrap="square" lIns="0" tIns="0" rIns="0" bIns="0" rtlCol="0" anchor="ctr"/>
          <a:lstStyle/>
          <a:p>
            <a:pPr indent="0" marL="0">
              <a:buNone/>
            </a:pPr>
            <a:r>
              <a:rPr lang="en-US" sz="1800" b="1" dirty="0">
                <a:solidFill>
                  <a:schemeClr val="tx1"/>
                </a:solidFill>
              </a:rPr>
              <a:t>Execute</a:t>
            </a:r>
            <a:endParaRPr lang="en-US" sz="1800" dirty="0"/>
          </a:p>
        </p:txBody>
      </p:sp>
      <p:sp>
        <p:nvSpPr>
          <p:cNvPr id="22" name="Text 20"/>
          <p:cNvSpPr txBox="1"/>
          <p:nvPr/>
        </p:nvSpPr>
        <p:spPr>
          <a:xfrm>
            <a:off x="777240" y="4754880"/>
            <a:ext cx="3108960" cy="1143000"/>
          </a:xfrm>
          <a:prstGeom prst="rect">
            <a:avLst/>
          </a:prstGeom>
          <a:noFill/>
          <a:ln/>
        </p:spPr>
        <p:txBody>
          <a:bodyPr wrap="square" lIns="0" tIns="0" rIns="0" bIns="0" rtlCol="0" anchor="t"/>
          <a:lstStyle/>
          <a:p>
            <a:pPr indent="0" marL="0">
              <a:buNone/>
            </a:pPr>
            <a:r>
              <a:rPr lang="en-US" sz="1400" dirty="0">
                <a:solidFill>
                  <a:schemeClr val="tx2"/>
                </a:solidFill>
              </a:rPr>
              <a:t>Async DAG, retries, circuit breakers, RBAC; fallback replanning on failure</a:t>
            </a:r>
            <a:endParaRPr lang="en-US" sz="1400" dirty="0"/>
          </a:p>
        </p:txBody>
      </p:sp>
      <p:sp>
        <p:nvSpPr>
          <p:cNvPr id="23" name="step 5"/>
          <p:cNvSpPr/>
          <p:nvPr/>
        </p:nvSpPr>
        <p:spPr>
          <a:xfrm>
            <a:off x="4297680" y="3840480"/>
            <a:ext cx="3520440" cy="2148840"/>
          </a:xfrm>
          <a:prstGeom prst="roundRect">
            <a:avLst>
              <a:gd name="adj" fmla="val 3404"/>
            </a:avLst>
          </a:prstGeom>
          <a:solidFill>
            <a:srgbClr val="F7F3EA"/>
          </a:solidFill>
          <a:ln w="12700">
            <a:solidFill>
              <a:srgbClr val="F7F3EA"/>
            </a:solidFill>
            <a:prstDash val="solid"/>
          </a:ln>
        </p:spPr>
      </p:sp>
      <p:sp>
        <p:nvSpPr>
          <p:cNvPr id="24" name="badge 5"/>
          <p:cNvSpPr/>
          <p:nvPr/>
        </p:nvSpPr>
        <p:spPr>
          <a:xfrm>
            <a:off x="4526280" y="4069080"/>
            <a:ext cx="502920" cy="502920"/>
          </a:xfrm>
          <a:prstGeom prst="ellipse">
            <a:avLst/>
          </a:prstGeom>
          <a:solidFill>
            <a:srgbClr val="E8A33D"/>
          </a:solidFill>
          <a:ln w="12700">
            <a:solidFill>
              <a:srgbClr val="E8A33D"/>
            </a:solidFill>
            <a:prstDash val="solid"/>
          </a:ln>
        </p:spPr>
      </p:sp>
      <p:sp>
        <p:nvSpPr>
          <p:cNvPr id="25" name="Text 23"/>
          <p:cNvSpPr txBox="1"/>
          <p:nvPr/>
        </p:nvSpPr>
        <p:spPr>
          <a:xfrm>
            <a:off x="4526280" y="4069080"/>
            <a:ext cx="502920" cy="502920"/>
          </a:xfrm>
          <a:prstGeom prst="rect">
            <a:avLst/>
          </a:prstGeom>
          <a:noFill/>
          <a:ln/>
        </p:spPr>
        <p:txBody>
          <a:bodyPr wrap="square" lIns="0" tIns="0" rIns="0" bIns="0"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5</a:t>
            </a:r>
            <a:endParaRPr lang="en-US" sz="1600" dirty="0"/>
          </a:p>
        </p:txBody>
      </p:sp>
      <p:sp>
        <p:nvSpPr>
          <p:cNvPr id="26" name="Text 24"/>
          <p:cNvSpPr txBox="1"/>
          <p:nvPr/>
        </p:nvSpPr>
        <p:spPr>
          <a:xfrm>
            <a:off x="5166360" y="4096512"/>
            <a:ext cx="2514600" cy="457200"/>
          </a:xfrm>
          <a:prstGeom prst="rect">
            <a:avLst/>
          </a:prstGeom>
          <a:noFill/>
          <a:ln/>
        </p:spPr>
        <p:txBody>
          <a:bodyPr wrap="square" lIns="0" tIns="0" rIns="0" bIns="0" rtlCol="0" anchor="ctr"/>
          <a:lstStyle/>
          <a:p>
            <a:pPr indent="0" marL="0">
              <a:buNone/>
            </a:pPr>
            <a:r>
              <a:rPr lang="en-US" sz="1800" b="1" dirty="0">
                <a:solidFill>
                  <a:schemeClr val="tx1"/>
                </a:solidFill>
              </a:rPr>
              <a:t>Stop or verify</a:t>
            </a:r>
            <a:endParaRPr lang="en-US" sz="1800" dirty="0"/>
          </a:p>
        </p:txBody>
      </p:sp>
      <p:sp>
        <p:nvSpPr>
          <p:cNvPr id="27" name="Text 25"/>
          <p:cNvSpPr txBox="1"/>
          <p:nvPr/>
        </p:nvSpPr>
        <p:spPr>
          <a:xfrm>
            <a:off x="4526280" y="4754880"/>
            <a:ext cx="3108960" cy="1143000"/>
          </a:xfrm>
          <a:prstGeom prst="rect">
            <a:avLst/>
          </a:prstGeom>
          <a:noFill/>
          <a:ln/>
        </p:spPr>
        <p:txBody>
          <a:bodyPr wrap="square" lIns="0" tIns="0" rIns="0" bIns="0" rtlCol="0" anchor="t"/>
          <a:lstStyle/>
          <a:p>
            <a:pPr indent="0" marL="0">
              <a:buNone/>
            </a:pPr>
            <a:r>
              <a:rPr lang="en-US" sz="1400" dirty="0">
                <a:solidFill>
                  <a:schemeClr val="tx2"/>
                </a:solidFill>
              </a:rPr>
              <a:t>Value of information: one more call only if it pays for its cost and latency</a:t>
            </a:r>
            <a:endParaRPr lang="en-US" sz="1400" dirty="0"/>
          </a:p>
        </p:txBody>
      </p:sp>
      <p:sp>
        <p:nvSpPr>
          <p:cNvPr id="28" name="step 6"/>
          <p:cNvSpPr/>
          <p:nvPr/>
        </p:nvSpPr>
        <p:spPr>
          <a:xfrm>
            <a:off x="8046720" y="3840480"/>
            <a:ext cx="3520440" cy="2148840"/>
          </a:xfrm>
          <a:prstGeom prst="roundRect">
            <a:avLst>
              <a:gd name="adj" fmla="val 3404"/>
            </a:avLst>
          </a:prstGeom>
          <a:solidFill>
            <a:srgbClr val="F7F3EA"/>
          </a:solidFill>
          <a:ln w="12700">
            <a:solidFill>
              <a:srgbClr val="F7F3EA"/>
            </a:solidFill>
            <a:prstDash val="solid"/>
          </a:ln>
        </p:spPr>
      </p:sp>
      <p:sp>
        <p:nvSpPr>
          <p:cNvPr id="29" name="badge 6"/>
          <p:cNvSpPr/>
          <p:nvPr/>
        </p:nvSpPr>
        <p:spPr>
          <a:xfrm>
            <a:off x="8275320" y="4069080"/>
            <a:ext cx="502920" cy="502920"/>
          </a:xfrm>
          <a:prstGeom prst="ellipse">
            <a:avLst/>
          </a:prstGeom>
          <a:solidFill>
            <a:srgbClr val="E8A33D"/>
          </a:solidFill>
          <a:ln w="12700">
            <a:solidFill>
              <a:srgbClr val="E8A33D"/>
            </a:solidFill>
            <a:prstDash val="solid"/>
          </a:ln>
        </p:spPr>
      </p:sp>
      <p:sp>
        <p:nvSpPr>
          <p:cNvPr id="30" name="Text 28"/>
          <p:cNvSpPr txBox="1"/>
          <p:nvPr/>
        </p:nvSpPr>
        <p:spPr>
          <a:xfrm>
            <a:off x="8275320" y="4069080"/>
            <a:ext cx="502920" cy="502920"/>
          </a:xfrm>
          <a:prstGeom prst="rect">
            <a:avLst/>
          </a:prstGeom>
          <a:noFill/>
          <a:ln/>
        </p:spPr>
        <p:txBody>
          <a:bodyPr wrap="square" lIns="0" tIns="0" rIns="0" bIns="0" rtlCol="0" anchor="ctr"/>
          <a:lstStyle/>
          <a:p>
            <a:pPr algn="ctr" indent="0" marL="0">
              <a:buNone/>
            </a:pPr>
            <a:r>
              <a:rPr lang="en-US" sz="1600" b="1" dirty="0">
                <a:solidFill>
                  <a:srgbClr val="1B1F2A"/>
                </a:solidFill>
                <a:latin typeface="Cambria" pitchFamily="34" charset="0"/>
                <a:ea typeface="Cambria" pitchFamily="34" charset="-122"/>
                <a:cs typeface="Cambria" pitchFamily="34" charset="-120"/>
              </a:rPr>
              <a:t>6</a:t>
            </a:r>
            <a:endParaRPr lang="en-US" sz="1600" dirty="0"/>
          </a:p>
        </p:txBody>
      </p:sp>
      <p:sp>
        <p:nvSpPr>
          <p:cNvPr id="31" name="Text 29"/>
          <p:cNvSpPr txBox="1"/>
          <p:nvPr/>
        </p:nvSpPr>
        <p:spPr>
          <a:xfrm>
            <a:off x="8915400" y="4096512"/>
            <a:ext cx="2514600" cy="457200"/>
          </a:xfrm>
          <a:prstGeom prst="rect">
            <a:avLst/>
          </a:prstGeom>
          <a:noFill/>
          <a:ln/>
        </p:spPr>
        <p:txBody>
          <a:bodyPr wrap="square" lIns="0" tIns="0" rIns="0" bIns="0" rtlCol="0" anchor="ctr"/>
          <a:lstStyle/>
          <a:p>
            <a:pPr indent="0" marL="0">
              <a:buNone/>
            </a:pPr>
            <a:r>
              <a:rPr lang="en-US" sz="1800" b="1" dirty="0">
                <a:solidFill>
                  <a:schemeClr val="tx1"/>
                </a:solidFill>
              </a:rPr>
              <a:t>Learn</a:t>
            </a:r>
            <a:endParaRPr lang="en-US" sz="1800" dirty="0"/>
          </a:p>
        </p:txBody>
      </p:sp>
      <p:sp>
        <p:nvSpPr>
          <p:cNvPr id="32" name="Text 30"/>
          <p:cNvSpPr txBox="1"/>
          <p:nvPr/>
        </p:nvSpPr>
        <p:spPr>
          <a:xfrm>
            <a:off x="8275320" y="4754880"/>
            <a:ext cx="3108960" cy="1143000"/>
          </a:xfrm>
          <a:prstGeom prst="rect">
            <a:avLst/>
          </a:prstGeom>
          <a:noFill/>
          <a:ln/>
        </p:spPr>
        <p:txBody>
          <a:bodyPr wrap="square" lIns="0" tIns="0" rIns="0" bIns="0" rtlCol="0" anchor="t"/>
          <a:lstStyle/>
          <a:p>
            <a:pPr indent="0" marL="0">
              <a:buNone/>
            </a:pPr>
            <a:r>
              <a:rPr lang="en-US" sz="1400" dirty="0">
                <a:solidFill>
                  <a:schemeClr val="tx2"/>
                </a:solidFill>
              </a:rPr>
              <a:t>Time-decayed posteriors, soft credit assignment, censored-feedback correction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What is different from existing routers</a:t>
            </a:r>
            <a:endParaRPr lang="en-US" sz="3200" dirty="0"/>
          </a:p>
        </p:txBody>
      </p:sp>
      <p:sp>
        <p:nvSpPr>
          <p:cNvPr id="3" name="contribution 1"/>
          <p:cNvSpPr/>
          <p:nvPr/>
        </p:nvSpPr>
        <p:spPr>
          <a:xfrm>
            <a:off x="548640" y="1417320"/>
            <a:ext cx="5394960" cy="2194560"/>
          </a:xfrm>
          <a:prstGeom prst="roundRect">
            <a:avLst>
              <a:gd name="adj" fmla="val 3333"/>
            </a:avLst>
          </a:prstGeom>
          <a:solidFill>
            <a:srgbClr val="EEF1F5"/>
          </a:solidFill>
          <a:ln w="12700">
            <a:solidFill>
              <a:srgbClr val="EEF1F5"/>
            </a:solidFill>
            <a:prstDash val="solid"/>
          </a:ln>
        </p:spPr>
      </p:sp>
      <p:sp>
        <p:nvSpPr>
          <p:cNvPr id="4" name="Text 2"/>
          <p:cNvSpPr txBox="1"/>
          <p:nvPr/>
        </p:nvSpPr>
        <p:spPr>
          <a:xfrm>
            <a:off x="822960" y="1618488"/>
            <a:ext cx="4846320" cy="457200"/>
          </a:xfrm>
          <a:prstGeom prst="rect">
            <a:avLst/>
          </a:prstGeom>
          <a:noFill/>
          <a:ln/>
        </p:spPr>
        <p:txBody>
          <a:bodyPr wrap="square" lIns="0" tIns="0" rIns="0" bIns="0" rtlCol="0" anchor="t"/>
          <a:lstStyle/>
          <a:p>
            <a:pPr indent="0" marL="0">
              <a:buNone/>
            </a:pPr>
            <a:r>
              <a:rPr lang="en-US" sz="1900" b="1" dirty="0">
                <a:solidFill>
                  <a:schemeClr val="tx1"/>
                </a:solidFill>
              </a:rPr>
              <a:t>Plans, not tools</a:t>
            </a:r>
            <a:endParaRPr lang="en-US" sz="1900" dirty="0"/>
          </a:p>
        </p:txBody>
      </p:sp>
      <p:sp>
        <p:nvSpPr>
          <p:cNvPr id="5" name="Text 3"/>
          <p:cNvSpPr txBox="1"/>
          <p:nvPr/>
        </p:nvSpPr>
        <p:spPr>
          <a:xfrm>
            <a:off x="822960" y="2130552"/>
            <a:ext cx="4846320" cy="960120"/>
          </a:xfrm>
          <a:prstGeom prst="rect">
            <a:avLst/>
          </a:prstGeom>
          <a:noFill/>
          <a:ln/>
        </p:spPr>
        <p:txBody>
          <a:bodyPr wrap="square" lIns="0" tIns="0" rIns="0" bIns="0" rtlCol="0" anchor="t"/>
          <a:lstStyle/>
          <a:p>
            <a:pPr indent="0" marL="0">
              <a:buNone/>
            </a:pPr>
            <a:r>
              <a:rPr lang="en-US" sz="1400" dirty="0">
                <a:solidFill>
                  <a:schemeClr val="tx2"/>
                </a:solidFill>
              </a:rPr>
              <a:t>Tools have typed inputs and outputs. The decision is a dependency-respecting set (SQL → Python), found by exact search.</a:t>
            </a:r>
            <a:endParaRPr lang="en-US" sz="1400" dirty="0"/>
          </a:p>
        </p:txBody>
      </p:sp>
      <p:sp>
        <p:nvSpPr>
          <p:cNvPr id="6" name="Text 4"/>
          <p:cNvSpPr txBox="1"/>
          <p:nvPr/>
        </p:nvSpPr>
        <p:spPr>
          <a:xfrm>
            <a:off x="822960" y="3136392"/>
            <a:ext cx="4846320" cy="320040"/>
          </a:xfrm>
          <a:prstGeom prst="rect">
            <a:avLst/>
          </a:prstGeom>
          <a:noFill/>
          <a:ln/>
        </p:spPr>
        <p:txBody>
          <a:bodyPr wrap="square" lIns="0" tIns="0" rIns="0" bIns="0" rtlCol="0" anchor="t"/>
          <a:lstStyle/>
          <a:p>
            <a:pPr indent="0" marL="0">
              <a:buNone/>
            </a:pPr>
            <a:r>
              <a:rPr lang="en-US" sz="1300" b="1" dirty="0">
                <a:solidFill>
                  <a:schemeClr val="accent2"/>
                </a:solidFill>
              </a:rPr>
              <a:t>Removing it: −0.28 success</a:t>
            </a:r>
            <a:endParaRPr lang="en-US" sz="1300" dirty="0"/>
          </a:p>
        </p:txBody>
      </p:sp>
      <p:sp>
        <p:nvSpPr>
          <p:cNvPr id="7" name="contribution 2"/>
          <p:cNvSpPr/>
          <p:nvPr/>
        </p:nvSpPr>
        <p:spPr>
          <a:xfrm>
            <a:off x="6172200" y="1417320"/>
            <a:ext cx="5394960" cy="2194560"/>
          </a:xfrm>
          <a:prstGeom prst="roundRect">
            <a:avLst>
              <a:gd name="adj" fmla="val 3333"/>
            </a:avLst>
          </a:prstGeom>
          <a:solidFill>
            <a:srgbClr val="EEF1F5"/>
          </a:solidFill>
          <a:ln w="12700">
            <a:solidFill>
              <a:srgbClr val="EEF1F5"/>
            </a:solidFill>
            <a:prstDash val="solid"/>
          </a:ln>
        </p:spPr>
      </p:sp>
      <p:sp>
        <p:nvSpPr>
          <p:cNvPr id="8" name="Text 6"/>
          <p:cNvSpPr txBox="1"/>
          <p:nvPr/>
        </p:nvSpPr>
        <p:spPr>
          <a:xfrm>
            <a:off x="6446520" y="1618488"/>
            <a:ext cx="4846320" cy="457200"/>
          </a:xfrm>
          <a:prstGeom prst="rect">
            <a:avLst/>
          </a:prstGeom>
          <a:noFill/>
          <a:ln/>
        </p:spPr>
        <p:txBody>
          <a:bodyPr wrap="square" lIns="0" tIns="0" rIns="0" bIns="0" rtlCol="0" anchor="t"/>
          <a:lstStyle/>
          <a:p>
            <a:pPr indent="0" marL="0">
              <a:buNone/>
            </a:pPr>
            <a:r>
              <a:rPr lang="en-US" sz="1900" b="1" dirty="0">
                <a:solidFill>
                  <a:schemeClr val="tx1"/>
                </a:solidFill>
              </a:rPr>
              <a:t>Constraints, not a weighted sum</a:t>
            </a:r>
            <a:endParaRPr lang="en-US" sz="1900" dirty="0"/>
          </a:p>
        </p:txBody>
      </p:sp>
      <p:sp>
        <p:nvSpPr>
          <p:cNvPr id="9" name="Text 7"/>
          <p:cNvSpPr txBox="1"/>
          <p:nvPr/>
        </p:nvSpPr>
        <p:spPr>
          <a:xfrm>
            <a:off x="6446520" y="2130552"/>
            <a:ext cx="4846320" cy="960120"/>
          </a:xfrm>
          <a:prstGeom prst="rect">
            <a:avLst/>
          </a:prstGeom>
          <a:noFill/>
          <a:ln/>
        </p:spPr>
        <p:txBody>
          <a:bodyPr wrap="square" lIns="0" tIns="0" rIns="0" bIns="0" rtlCol="0" anchor="t"/>
          <a:lstStyle/>
          <a:p>
            <a:pPr indent="0" marL="0">
              <a:buNone/>
            </a:pPr>
            <a:r>
              <a:rPr lang="en-US" sz="1400" dirty="0">
                <a:solidFill>
                  <a:schemeClr val="tx2"/>
                </a:solidFill>
              </a:rPr>
              <a:t>Quality, reliability and latency-tail targets are hard constraints; cost is minimised among plans that meet them.</a:t>
            </a:r>
            <a:endParaRPr lang="en-US" sz="1400" dirty="0"/>
          </a:p>
        </p:txBody>
      </p:sp>
      <p:sp>
        <p:nvSpPr>
          <p:cNvPr id="10" name="Text 8"/>
          <p:cNvSpPr txBox="1"/>
          <p:nvPr/>
        </p:nvSpPr>
        <p:spPr>
          <a:xfrm>
            <a:off x="6446520" y="3136392"/>
            <a:ext cx="4846320" cy="320040"/>
          </a:xfrm>
          <a:prstGeom prst="rect">
            <a:avLst/>
          </a:prstGeom>
          <a:noFill/>
          <a:ln/>
        </p:spPr>
        <p:txBody>
          <a:bodyPr wrap="square" lIns="0" tIns="0" rIns="0" bIns="0" rtlCol="0" anchor="t"/>
          <a:lstStyle/>
          <a:p>
            <a:pPr indent="0" marL="0">
              <a:buNone/>
            </a:pPr>
            <a:r>
              <a:rPr lang="en-US" sz="1300" b="1" dirty="0">
                <a:solidFill>
                  <a:schemeClr val="accent2"/>
                </a:solidFill>
              </a:rPr>
              <a:t>A cheap wrong answer cannot win</a:t>
            </a:r>
            <a:endParaRPr lang="en-US" sz="1300" dirty="0"/>
          </a:p>
        </p:txBody>
      </p:sp>
      <p:sp>
        <p:nvSpPr>
          <p:cNvPr id="11" name="contribution 3"/>
          <p:cNvSpPr/>
          <p:nvPr/>
        </p:nvSpPr>
        <p:spPr>
          <a:xfrm>
            <a:off x="548640" y="3840480"/>
            <a:ext cx="5394960" cy="2194560"/>
          </a:xfrm>
          <a:prstGeom prst="roundRect">
            <a:avLst>
              <a:gd name="adj" fmla="val 3333"/>
            </a:avLst>
          </a:prstGeom>
          <a:solidFill>
            <a:srgbClr val="EEF1F5"/>
          </a:solidFill>
          <a:ln w="12700">
            <a:solidFill>
              <a:srgbClr val="EEF1F5"/>
            </a:solidFill>
            <a:prstDash val="solid"/>
          </a:ln>
        </p:spPr>
      </p:sp>
      <p:sp>
        <p:nvSpPr>
          <p:cNvPr id="12" name="Text 10"/>
          <p:cNvSpPr txBox="1"/>
          <p:nvPr/>
        </p:nvSpPr>
        <p:spPr>
          <a:xfrm>
            <a:off x="822960" y="4041648"/>
            <a:ext cx="4846320" cy="457200"/>
          </a:xfrm>
          <a:prstGeom prst="rect">
            <a:avLst/>
          </a:prstGeom>
          <a:noFill/>
          <a:ln/>
        </p:spPr>
        <p:txBody>
          <a:bodyPr wrap="square" lIns="0" tIns="0" rIns="0" bIns="0" rtlCol="0" anchor="t"/>
          <a:lstStyle/>
          <a:p>
            <a:pPr indent="0" marL="0">
              <a:buNone/>
            </a:pPr>
            <a:r>
              <a:rPr lang="en-US" sz="1900" b="1" dirty="0">
                <a:solidFill>
                  <a:schemeClr val="tx1"/>
                </a:solidFill>
              </a:rPr>
              <a:t>Drift-aware, safe learning</a:t>
            </a:r>
            <a:endParaRPr lang="en-US" sz="1900" dirty="0"/>
          </a:p>
        </p:txBody>
      </p:sp>
      <p:sp>
        <p:nvSpPr>
          <p:cNvPr id="13" name="Text 11"/>
          <p:cNvSpPr txBox="1"/>
          <p:nvPr/>
        </p:nvSpPr>
        <p:spPr>
          <a:xfrm>
            <a:off x="822960" y="4553712"/>
            <a:ext cx="4846320" cy="960120"/>
          </a:xfrm>
          <a:prstGeom prst="rect">
            <a:avLst/>
          </a:prstGeom>
          <a:noFill/>
          <a:ln/>
        </p:spPr>
        <p:txBody>
          <a:bodyPr wrap="square" lIns="0" tIns="0" rIns="0" bIns="0" rtlCol="0" anchor="t"/>
          <a:lstStyle/>
          <a:p>
            <a:pPr indent="0" marL="0">
              <a:buNone/>
            </a:pPr>
            <a:r>
              <a:rPr lang="en-US" sz="1400" dirty="0">
                <a:solidFill>
                  <a:schemeClr val="tx2"/>
                </a:solidFill>
              </a:rPr>
              <a:t>Global-time decayed Thompson sampling re-explores unused tools; sensitive tools are never explored optimistically.</a:t>
            </a:r>
            <a:endParaRPr lang="en-US" sz="1400" dirty="0"/>
          </a:p>
        </p:txBody>
      </p:sp>
      <p:sp>
        <p:nvSpPr>
          <p:cNvPr id="14" name="Text 12"/>
          <p:cNvSpPr txBox="1"/>
          <p:nvPr/>
        </p:nvSpPr>
        <p:spPr>
          <a:xfrm>
            <a:off x="822960" y="5559552"/>
            <a:ext cx="4846320" cy="320040"/>
          </a:xfrm>
          <a:prstGeom prst="rect">
            <a:avLst/>
          </a:prstGeom>
          <a:noFill/>
          <a:ln/>
        </p:spPr>
        <p:txBody>
          <a:bodyPr wrap="square" lIns="0" tIns="0" rIns="0" bIns="0" rtlCol="0" anchor="t"/>
          <a:lstStyle/>
          <a:p>
            <a:pPr indent="0" marL="0">
              <a:buNone/>
            </a:pPr>
            <a:r>
              <a:rPr lang="en-US" sz="1300" b="1" dirty="0">
                <a:solidFill>
                  <a:schemeClr val="accent2"/>
                </a:solidFill>
              </a:rPr>
              <a:t>Re-explores tools once they recover</a:t>
            </a:r>
            <a:endParaRPr lang="en-US" sz="1300" dirty="0"/>
          </a:p>
        </p:txBody>
      </p:sp>
      <p:sp>
        <p:nvSpPr>
          <p:cNvPr id="15" name="contribution 4"/>
          <p:cNvSpPr/>
          <p:nvPr/>
        </p:nvSpPr>
        <p:spPr>
          <a:xfrm>
            <a:off x="6172200" y="3840480"/>
            <a:ext cx="5394960" cy="2194560"/>
          </a:xfrm>
          <a:prstGeom prst="roundRect">
            <a:avLst>
              <a:gd name="adj" fmla="val 3333"/>
            </a:avLst>
          </a:prstGeom>
          <a:solidFill>
            <a:srgbClr val="EEF1F5"/>
          </a:solidFill>
          <a:ln w="12700">
            <a:solidFill>
              <a:srgbClr val="EEF1F5"/>
            </a:solidFill>
            <a:prstDash val="solid"/>
          </a:ln>
        </p:spPr>
      </p:sp>
      <p:sp>
        <p:nvSpPr>
          <p:cNvPr id="16" name="Text 14"/>
          <p:cNvSpPr txBox="1"/>
          <p:nvPr/>
        </p:nvSpPr>
        <p:spPr>
          <a:xfrm>
            <a:off x="6446520" y="4041648"/>
            <a:ext cx="4846320" cy="457200"/>
          </a:xfrm>
          <a:prstGeom prst="rect">
            <a:avLst/>
          </a:prstGeom>
          <a:noFill/>
          <a:ln/>
        </p:spPr>
        <p:txBody>
          <a:bodyPr wrap="square" lIns="0" tIns="0" rIns="0" bIns="0" rtlCol="0" anchor="t"/>
          <a:lstStyle/>
          <a:p>
            <a:pPr indent="0" marL="0">
              <a:buNone/>
            </a:pPr>
            <a:r>
              <a:rPr lang="en-US" sz="1900" b="1" dirty="0">
                <a:solidFill>
                  <a:schemeClr val="tx1"/>
                </a:solidFill>
              </a:rPr>
              <a:t>Sufficiency and honest feedback</a:t>
            </a:r>
            <a:endParaRPr lang="en-US" sz="1900" dirty="0"/>
          </a:p>
        </p:txBody>
      </p:sp>
      <p:sp>
        <p:nvSpPr>
          <p:cNvPr id="17" name="Text 15"/>
          <p:cNvSpPr txBox="1"/>
          <p:nvPr/>
        </p:nvSpPr>
        <p:spPr>
          <a:xfrm>
            <a:off x="6446520" y="4553712"/>
            <a:ext cx="4846320" cy="960120"/>
          </a:xfrm>
          <a:prstGeom prst="rect">
            <a:avLst/>
          </a:prstGeom>
          <a:noFill/>
          <a:ln/>
        </p:spPr>
        <p:txBody>
          <a:bodyPr wrap="square" lIns="0" tIns="0" rIns="0" bIns="0" rtlCol="0" anchor="t"/>
          <a:lstStyle/>
          <a:p>
            <a:pPr indent="0" marL="0">
              <a:buNone/>
            </a:pPr>
            <a:r>
              <a:rPr lang="en-US" sz="1400" dirty="0">
                <a:solidFill>
                  <a:schemeClr val="tx2"/>
                </a:solidFill>
              </a:rPr>
              <a:t>A VoI rule decides whether one more call is worth it; answers it overrides are still learned from.</a:t>
            </a:r>
            <a:endParaRPr lang="en-US" sz="1400" dirty="0"/>
          </a:p>
        </p:txBody>
      </p:sp>
      <p:sp>
        <p:nvSpPr>
          <p:cNvPr id="18" name="Text 16"/>
          <p:cNvSpPr txBox="1"/>
          <p:nvPr/>
        </p:nvSpPr>
        <p:spPr>
          <a:xfrm>
            <a:off x="6446520" y="5559552"/>
            <a:ext cx="4846320" cy="320040"/>
          </a:xfrm>
          <a:prstGeom prst="rect">
            <a:avLst/>
          </a:prstGeom>
          <a:noFill/>
          <a:ln/>
        </p:spPr>
        <p:txBody>
          <a:bodyPr wrap="square" lIns="0" tIns="0" rIns="0" bIns="0" rtlCol="0" anchor="t"/>
          <a:lstStyle/>
          <a:p>
            <a:pPr indent="0" marL="0">
              <a:buNone/>
            </a:pPr>
            <a:r>
              <a:rPr lang="en-US" sz="1300" b="1" dirty="0">
                <a:solidFill>
                  <a:schemeClr val="accent2"/>
                </a:solidFill>
              </a:rPr>
              <a:t>VoI: +0.073 success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Under drift, ATLAS matches a privileged oracle on success</a:t>
            </a:r>
            <a:endParaRPr lang="en-US" sz="3200" dirty="0"/>
          </a:p>
        </p:txBody>
      </p:sp>
      <p:graphicFrame>
        <p:nvGraphicFramePr>
          <p:cNvPr id="3" name="Chart 0" descr=""/>
          <p:cNvGraphicFramePr/>
          <p:nvPr/>
        </p:nvGraphicFramePr>
        <p:xfrm>
          <a:off x="45720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417320"/>
            <a:ext cx="3840480" cy="868680"/>
          </a:xfrm>
          <a:prstGeom prst="rect">
            <a:avLst/>
          </a:prstGeom>
          <a:noFill/>
          <a:ln/>
        </p:spPr>
        <p:txBody>
          <a:bodyPr wrap="square" lIns="0" tIns="0" rIns="0" bIns="0" rtlCol="0" anchor="b"/>
          <a:lstStyle/>
          <a:p>
            <a:pPr indent="0" marL="0">
              <a:buNone/>
            </a:pPr>
            <a:r>
              <a:rPr lang="en-US" sz="4800" b="1" dirty="0">
                <a:solidFill>
                  <a:srgbClr val="E8A33D"/>
                </a:solidFill>
                <a:latin typeface="Cambria" pitchFamily="34" charset="0"/>
                <a:ea typeface="Cambria" pitchFamily="34" charset="-122"/>
                <a:cs typeface="Cambria" pitchFamily="34" charset="-120"/>
              </a:rPr>
              <a:t>+0.165</a:t>
            </a:r>
            <a:endParaRPr lang="en-US" sz="4800" dirty="0"/>
          </a:p>
        </p:txBody>
      </p:sp>
      <p:sp>
        <p:nvSpPr>
          <p:cNvPr id="5" name="Text 2"/>
          <p:cNvSpPr txBox="1"/>
          <p:nvPr/>
        </p:nvSpPr>
        <p:spPr>
          <a:xfrm>
            <a:off x="7863840" y="2331720"/>
            <a:ext cx="3840480" cy="685800"/>
          </a:xfrm>
          <a:prstGeom prst="rect">
            <a:avLst/>
          </a:prstGeom>
          <a:noFill/>
          <a:ln/>
        </p:spPr>
        <p:txBody>
          <a:bodyPr wrap="square" lIns="0" tIns="0" rIns="0" bIns="0" rtlCol="0" anchor="t"/>
          <a:lstStyle/>
          <a:p>
            <a:pPr indent="0" marL="0">
              <a:buNone/>
            </a:pPr>
            <a:r>
              <a:rPr lang="en-US" sz="1300" dirty="0">
                <a:solidFill>
                  <a:schemeClr val="tx2"/>
                </a:solidFill>
              </a:rPr>
              <a:t>success vs the supervised model-based router (B2) under drift</a:t>
            </a:r>
            <a:endParaRPr lang="en-US" sz="1300" dirty="0"/>
          </a:p>
        </p:txBody>
      </p:sp>
      <p:sp>
        <p:nvSpPr>
          <p:cNvPr id="6" name="Text 3"/>
          <p:cNvSpPr txBox="1"/>
          <p:nvPr/>
        </p:nvSpPr>
        <p:spPr>
          <a:xfrm>
            <a:off x="7863840" y="3063240"/>
            <a:ext cx="3840480" cy="868680"/>
          </a:xfrm>
          <a:prstGeom prst="rect">
            <a:avLst/>
          </a:prstGeom>
          <a:noFill/>
          <a:ln/>
        </p:spPr>
        <p:txBody>
          <a:bodyPr wrap="square" lIns="0" tIns="0" rIns="0" bIns="0" rtlCol="0" anchor="b"/>
          <a:lstStyle/>
          <a:p>
            <a:pPr indent="0" marL="0">
              <a:buNone/>
            </a:pPr>
            <a:r>
              <a:rPr lang="en-US" sz="4800" b="1" dirty="0">
                <a:solidFill>
                  <a:srgbClr val="2A9D8F"/>
                </a:solidFill>
                <a:latin typeface="Cambria" pitchFamily="34" charset="0"/>
                <a:ea typeface="Cambria" pitchFamily="34" charset="-122"/>
                <a:cs typeface="Cambria" pitchFamily="34" charset="-120"/>
              </a:rPr>
              <a:t>+0.414</a:t>
            </a:r>
            <a:endParaRPr lang="en-US" sz="4800" dirty="0"/>
          </a:p>
        </p:txBody>
      </p:sp>
      <p:sp>
        <p:nvSpPr>
          <p:cNvPr id="7" name="Text 4"/>
          <p:cNvSpPr txBox="1"/>
          <p:nvPr/>
        </p:nvSpPr>
        <p:spPr>
          <a:xfrm>
            <a:off x="7863840" y="3977640"/>
            <a:ext cx="3840480" cy="685800"/>
          </a:xfrm>
          <a:prstGeom prst="rect">
            <a:avLst/>
          </a:prstGeom>
          <a:noFill/>
          <a:ln/>
        </p:spPr>
        <p:txBody>
          <a:bodyPr wrap="square" lIns="0" tIns="0" rIns="0" bIns="0" rtlCol="0" anchor="t"/>
          <a:lstStyle/>
          <a:p>
            <a:pPr indent="0" marL="0">
              <a:buNone/>
            </a:pPr>
            <a:r>
              <a:rPr lang="en-US" sz="1300" dirty="0">
                <a:solidFill>
                  <a:schemeClr val="tx2"/>
                </a:solidFill>
              </a:rPr>
              <a:t>success vs the keyword rules router (B1) under drift</a:t>
            </a:r>
            <a:endParaRPr lang="en-US" sz="1300" dirty="0"/>
          </a:p>
        </p:txBody>
      </p:sp>
      <p:sp>
        <p:nvSpPr>
          <p:cNvPr id="8" name="Text 5"/>
          <p:cNvSpPr txBox="1"/>
          <p:nvPr/>
        </p:nvSpPr>
        <p:spPr>
          <a:xfrm>
            <a:off x="7863840" y="4892040"/>
            <a:ext cx="3840480" cy="1097280"/>
          </a:xfrm>
          <a:prstGeom prst="rect">
            <a:avLst/>
          </a:prstGeom>
          <a:noFill/>
          <a:ln/>
        </p:spPr>
        <p:txBody>
          <a:bodyPr wrap="square" lIns="0" tIns="0" rIns="0" bIns="0" rtlCol="0" anchor="t"/>
          <a:lstStyle/>
          <a:p>
            <a:pPr indent="0" marL="0">
              <a:buNone/>
            </a:pPr>
            <a:r>
              <a:rPr lang="en-US" sz="1200" dirty="0">
                <a:solidFill>
                  <a:schemeClr val="tx2"/>
                </a:solidFill>
              </a:rPr>
              <a:t>All differences significant after Holm correction (paired Wilcoxon, 20 seeds). *Oracle knows true requirements and current tool parameters.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Success costs money: the quality target sets the trade-off</a:t>
            </a:r>
            <a:endParaRPr lang="en-US" sz="3200" dirty="0"/>
          </a:p>
        </p:txBody>
      </p:sp>
      <p:sp>
        <p:nvSpPr>
          <p:cNvPr id="3" name="Shape 1"/>
          <p:cNvSpPr/>
          <p:nvPr/>
        </p:nvSpPr>
        <p:spPr>
          <a:xfrm>
            <a:off x="914400" y="5669280"/>
            <a:ext cx="6675120" cy="0"/>
          </a:xfrm>
          <a:prstGeom prst="line">
            <a:avLst/>
          </a:prstGeom>
          <a:noFill/>
          <a:ln w="12700">
            <a:solidFill>
              <a:srgbClr val="D9DEE6"/>
            </a:solidFill>
            <a:prstDash val="solid"/>
          </a:ln>
        </p:spPr>
      </p:sp>
      <p:sp>
        <p:nvSpPr>
          <p:cNvPr id="4" name="Shape 2"/>
          <p:cNvSpPr/>
          <p:nvPr/>
        </p:nvSpPr>
        <p:spPr>
          <a:xfrm>
            <a:off x="914400" y="1691640"/>
            <a:ext cx="0" cy="3977640"/>
          </a:xfrm>
          <a:prstGeom prst="line">
            <a:avLst/>
          </a:prstGeom>
          <a:noFill/>
          <a:ln w="12700">
            <a:solidFill>
              <a:srgbClr val="D9DEE6"/>
            </a:solidFill>
            <a:prstDash val="solid"/>
          </a:ln>
        </p:spPr>
      </p:sp>
      <p:sp>
        <p:nvSpPr>
          <p:cNvPr id="5" name="Text 3"/>
          <p:cNvSpPr txBox="1"/>
          <p:nvPr/>
        </p:nvSpPr>
        <p:spPr>
          <a:xfrm>
            <a:off x="640080" y="5715000"/>
            <a:ext cx="548640" cy="274320"/>
          </a:xfrm>
          <a:prstGeom prst="rect">
            <a:avLst/>
          </a:prstGeom>
          <a:noFill/>
          <a:ln/>
        </p:spPr>
        <p:txBody>
          <a:bodyPr wrap="square" lIns="0" tIns="0" rIns="0" bIns="0" rtlCol="0" anchor="ctr"/>
          <a:lstStyle/>
          <a:p>
            <a:pPr algn="ctr" indent="0" marL="0">
              <a:buNone/>
            </a:pPr>
            <a:r>
              <a:rPr lang="en-US" sz="1100" dirty="0">
                <a:solidFill>
                  <a:srgbClr val="5F6B7F"/>
                </a:solidFill>
              </a:rPr>
              <a:t>3.5</a:t>
            </a:r>
            <a:endParaRPr lang="en-US" sz="1100" dirty="0"/>
          </a:p>
        </p:txBody>
      </p:sp>
      <p:sp>
        <p:nvSpPr>
          <p:cNvPr id="6" name="Text 4"/>
          <p:cNvSpPr txBox="1"/>
          <p:nvPr/>
        </p:nvSpPr>
        <p:spPr>
          <a:xfrm>
            <a:off x="2308860" y="5715000"/>
            <a:ext cx="548640" cy="274320"/>
          </a:xfrm>
          <a:prstGeom prst="rect">
            <a:avLst/>
          </a:prstGeom>
          <a:noFill/>
          <a:ln/>
        </p:spPr>
        <p:txBody>
          <a:bodyPr wrap="square" lIns="0" tIns="0" rIns="0" bIns="0" rtlCol="0" anchor="ctr"/>
          <a:lstStyle/>
          <a:p>
            <a:pPr algn="ctr" indent="0" marL="0">
              <a:buNone/>
            </a:pPr>
            <a:r>
              <a:rPr lang="en-US" sz="1100" dirty="0">
                <a:solidFill>
                  <a:srgbClr val="5F6B7F"/>
                </a:solidFill>
              </a:rPr>
              <a:t>4.0</a:t>
            </a:r>
            <a:endParaRPr lang="en-US" sz="1100" dirty="0"/>
          </a:p>
        </p:txBody>
      </p:sp>
      <p:sp>
        <p:nvSpPr>
          <p:cNvPr id="7" name="Text 5"/>
          <p:cNvSpPr txBox="1"/>
          <p:nvPr/>
        </p:nvSpPr>
        <p:spPr>
          <a:xfrm>
            <a:off x="3977640" y="5715000"/>
            <a:ext cx="548640" cy="274320"/>
          </a:xfrm>
          <a:prstGeom prst="rect">
            <a:avLst/>
          </a:prstGeom>
          <a:noFill/>
          <a:ln/>
        </p:spPr>
        <p:txBody>
          <a:bodyPr wrap="square" lIns="0" tIns="0" rIns="0" bIns="0" rtlCol="0" anchor="ctr"/>
          <a:lstStyle/>
          <a:p>
            <a:pPr algn="ctr" indent="0" marL="0">
              <a:buNone/>
            </a:pPr>
            <a:r>
              <a:rPr lang="en-US" sz="1100" dirty="0">
                <a:solidFill>
                  <a:srgbClr val="5F6B7F"/>
                </a:solidFill>
              </a:rPr>
              <a:t>4.5</a:t>
            </a:r>
            <a:endParaRPr lang="en-US" sz="1100" dirty="0"/>
          </a:p>
        </p:txBody>
      </p:sp>
      <p:sp>
        <p:nvSpPr>
          <p:cNvPr id="8" name="Text 6"/>
          <p:cNvSpPr txBox="1"/>
          <p:nvPr/>
        </p:nvSpPr>
        <p:spPr>
          <a:xfrm>
            <a:off x="5646420" y="5715000"/>
            <a:ext cx="548640" cy="274320"/>
          </a:xfrm>
          <a:prstGeom prst="rect">
            <a:avLst/>
          </a:prstGeom>
          <a:noFill/>
          <a:ln/>
        </p:spPr>
        <p:txBody>
          <a:bodyPr wrap="square" lIns="0" tIns="0" rIns="0" bIns="0" rtlCol="0" anchor="ctr"/>
          <a:lstStyle/>
          <a:p>
            <a:pPr algn="ctr" indent="0" marL="0">
              <a:buNone/>
            </a:pPr>
            <a:r>
              <a:rPr lang="en-US" sz="1100" dirty="0">
                <a:solidFill>
                  <a:srgbClr val="5F6B7F"/>
                </a:solidFill>
              </a:rPr>
              <a:t>5.0</a:t>
            </a:r>
            <a:endParaRPr lang="en-US" sz="1100" dirty="0"/>
          </a:p>
        </p:txBody>
      </p:sp>
      <p:sp>
        <p:nvSpPr>
          <p:cNvPr id="9" name="Text 7"/>
          <p:cNvSpPr txBox="1"/>
          <p:nvPr/>
        </p:nvSpPr>
        <p:spPr>
          <a:xfrm>
            <a:off x="7315200" y="5715000"/>
            <a:ext cx="548640" cy="274320"/>
          </a:xfrm>
          <a:prstGeom prst="rect">
            <a:avLst/>
          </a:prstGeom>
          <a:noFill/>
          <a:ln/>
        </p:spPr>
        <p:txBody>
          <a:bodyPr wrap="square" lIns="0" tIns="0" rIns="0" bIns="0" rtlCol="0" anchor="ctr"/>
          <a:lstStyle/>
          <a:p>
            <a:pPr algn="ctr" indent="0" marL="0">
              <a:buNone/>
            </a:pPr>
            <a:r>
              <a:rPr lang="en-US" sz="1100" dirty="0">
                <a:solidFill>
                  <a:srgbClr val="5F6B7F"/>
                </a:solidFill>
              </a:rPr>
              <a:t>5.5</a:t>
            </a:r>
            <a:endParaRPr lang="en-US" sz="1100" dirty="0"/>
          </a:p>
        </p:txBody>
      </p:sp>
      <p:sp>
        <p:nvSpPr>
          <p:cNvPr id="10" name="Text 8"/>
          <p:cNvSpPr txBox="1"/>
          <p:nvPr/>
        </p:nvSpPr>
        <p:spPr>
          <a:xfrm>
            <a:off x="320040" y="5532120"/>
            <a:ext cx="502920" cy="274320"/>
          </a:xfrm>
          <a:prstGeom prst="rect">
            <a:avLst/>
          </a:prstGeom>
          <a:noFill/>
          <a:ln/>
        </p:spPr>
        <p:txBody>
          <a:bodyPr wrap="square" lIns="0" tIns="0" rIns="0" bIns="0" rtlCol="0" anchor="ctr"/>
          <a:lstStyle/>
          <a:p>
            <a:pPr algn="r" indent="0" marL="0">
              <a:buNone/>
            </a:pPr>
            <a:r>
              <a:rPr lang="en-US" sz="1100" dirty="0">
                <a:solidFill>
                  <a:srgbClr val="5F6B7F"/>
                </a:solidFill>
              </a:rPr>
              <a:t>0.70</a:t>
            </a:r>
            <a:endParaRPr lang="en-US" sz="1100" dirty="0"/>
          </a:p>
        </p:txBody>
      </p:sp>
      <p:sp>
        <p:nvSpPr>
          <p:cNvPr id="11" name="Text 9"/>
          <p:cNvSpPr txBox="1"/>
          <p:nvPr/>
        </p:nvSpPr>
        <p:spPr>
          <a:xfrm>
            <a:off x="320040" y="4628111"/>
            <a:ext cx="502920" cy="274320"/>
          </a:xfrm>
          <a:prstGeom prst="rect">
            <a:avLst/>
          </a:prstGeom>
          <a:noFill/>
          <a:ln/>
        </p:spPr>
        <p:txBody>
          <a:bodyPr wrap="square" lIns="0" tIns="0" rIns="0" bIns="0" rtlCol="0" anchor="ctr"/>
          <a:lstStyle/>
          <a:p>
            <a:pPr algn="r" indent="0" marL="0">
              <a:buNone/>
            </a:pPr>
            <a:r>
              <a:rPr lang="en-US" sz="1100" dirty="0">
                <a:solidFill>
                  <a:srgbClr val="5F6B7F"/>
                </a:solidFill>
              </a:rPr>
              <a:t>0.75</a:t>
            </a:r>
            <a:endParaRPr lang="en-US" sz="1100" dirty="0"/>
          </a:p>
        </p:txBody>
      </p:sp>
      <p:sp>
        <p:nvSpPr>
          <p:cNvPr id="12" name="Text 10"/>
          <p:cNvSpPr txBox="1"/>
          <p:nvPr/>
        </p:nvSpPr>
        <p:spPr>
          <a:xfrm>
            <a:off x="320040" y="3724102"/>
            <a:ext cx="502920" cy="274320"/>
          </a:xfrm>
          <a:prstGeom prst="rect">
            <a:avLst/>
          </a:prstGeom>
          <a:noFill/>
          <a:ln/>
        </p:spPr>
        <p:txBody>
          <a:bodyPr wrap="square" lIns="0" tIns="0" rIns="0" bIns="0" rtlCol="0" anchor="ctr"/>
          <a:lstStyle/>
          <a:p>
            <a:pPr algn="r" indent="0" marL="0">
              <a:buNone/>
            </a:pPr>
            <a:r>
              <a:rPr lang="en-US" sz="1100" dirty="0">
                <a:solidFill>
                  <a:srgbClr val="5F6B7F"/>
                </a:solidFill>
              </a:rPr>
              <a:t>0.80</a:t>
            </a:r>
            <a:endParaRPr lang="en-US" sz="1100" dirty="0"/>
          </a:p>
        </p:txBody>
      </p:sp>
      <p:sp>
        <p:nvSpPr>
          <p:cNvPr id="13" name="Text 11"/>
          <p:cNvSpPr txBox="1"/>
          <p:nvPr/>
        </p:nvSpPr>
        <p:spPr>
          <a:xfrm>
            <a:off x="320040" y="2820093"/>
            <a:ext cx="502920" cy="274320"/>
          </a:xfrm>
          <a:prstGeom prst="rect">
            <a:avLst/>
          </a:prstGeom>
          <a:noFill/>
          <a:ln/>
        </p:spPr>
        <p:txBody>
          <a:bodyPr wrap="square" lIns="0" tIns="0" rIns="0" bIns="0" rtlCol="0" anchor="ctr"/>
          <a:lstStyle/>
          <a:p>
            <a:pPr algn="r" indent="0" marL="0">
              <a:buNone/>
            </a:pPr>
            <a:r>
              <a:rPr lang="en-US" sz="1100" dirty="0">
                <a:solidFill>
                  <a:srgbClr val="5F6B7F"/>
                </a:solidFill>
              </a:rPr>
              <a:t>0.85</a:t>
            </a:r>
            <a:endParaRPr lang="en-US" sz="1100" dirty="0"/>
          </a:p>
        </p:txBody>
      </p:sp>
      <p:sp>
        <p:nvSpPr>
          <p:cNvPr id="14" name="Text 12"/>
          <p:cNvSpPr txBox="1"/>
          <p:nvPr/>
        </p:nvSpPr>
        <p:spPr>
          <a:xfrm>
            <a:off x="320040" y="1916084"/>
            <a:ext cx="502920" cy="274320"/>
          </a:xfrm>
          <a:prstGeom prst="rect">
            <a:avLst/>
          </a:prstGeom>
          <a:noFill/>
          <a:ln/>
        </p:spPr>
        <p:txBody>
          <a:bodyPr wrap="square" lIns="0" tIns="0" rIns="0" bIns="0" rtlCol="0" anchor="ctr"/>
          <a:lstStyle/>
          <a:p>
            <a:pPr algn="r" indent="0" marL="0">
              <a:buNone/>
            </a:pPr>
            <a:r>
              <a:rPr lang="en-US" sz="1100" dirty="0">
                <a:solidFill>
                  <a:srgbClr val="5F6B7F"/>
                </a:solidFill>
              </a:rPr>
              <a:t>0.90</a:t>
            </a:r>
            <a:endParaRPr lang="en-US" sz="1100" dirty="0"/>
          </a:p>
        </p:txBody>
      </p:sp>
      <p:sp>
        <p:nvSpPr>
          <p:cNvPr id="15" name="Text 13"/>
          <p:cNvSpPr txBox="1"/>
          <p:nvPr/>
        </p:nvSpPr>
        <p:spPr>
          <a:xfrm>
            <a:off x="914400" y="5989320"/>
            <a:ext cx="6675120" cy="274320"/>
          </a:xfrm>
          <a:prstGeom prst="rect">
            <a:avLst/>
          </a:prstGeom>
          <a:noFill/>
          <a:ln/>
        </p:spPr>
        <p:txBody>
          <a:bodyPr wrap="square" lIns="0" tIns="0" rIns="0" bIns="0" rtlCol="0" anchor="ctr"/>
          <a:lstStyle/>
          <a:p>
            <a:pPr algn="ctr" indent="0" marL="0">
              <a:buNone/>
            </a:pPr>
            <a:r>
              <a:rPr lang="en-US" sz="1200" dirty="0">
                <a:solidFill>
                  <a:srgbClr val="5F6B7F"/>
                </a:solidFill>
              </a:rPr>
              <a:t>Cost per successful task (m$) →</a:t>
            </a:r>
            <a:endParaRPr lang="en-US" sz="1200" dirty="0"/>
          </a:p>
        </p:txBody>
      </p:sp>
      <p:sp>
        <p:nvSpPr>
          <p:cNvPr id="16" name="Text 14"/>
          <p:cNvSpPr txBox="1"/>
          <p:nvPr/>
        </p:nvSpPr>
        <p:spPr>
          <a:xfrm>
            <a:off x="228600" y="1325880"/>
            <a:ext cx="1371600" cy="274320"/>
          </a:xfrm>
          <a:prstGeom prst="rect">
            <a:avLst/>
          </a:prstGeom>
          <a:noFill/>
          <a:ln/>
        </p:spPr>
        <p:txBody>
          <a:bodyPr wrap="square" lIns="0" tIns="0" rIns="0" bIns="0" rtlCol="0" anchor="ctr"/>
          <a:lstStyle/>
          <a:p>
            <a:pPr indent="0" marL="0">
              <a:buNone/>
            </a:pPr>
            <a:r>
              <a:rPr lang="en-US" sz="1200" dirty="0">
                <a:solidFill>
                  <a:srgbClr val="5F6B7F"/>
                </a:solidFill>
              </a:rPr>
              <a:t>↑ Success</a:t>
            </a:r>
            <a:endParaRPr lang="en-US" sz="1200" dirty="0"/>
          </a:p>
        </p:txBody>
      </p:sp>
      <p:sp>
        <p:nvSpPr>
          <p:cNvPr id="17" name="Shape 15"/>
          <p:cNvSpPr/>
          <p:nvPr/>
        </p:nvSpPr>
        <p:spPr>
          <a:xfrm flipV="1">
            <a:off x="1748790" y="2686050"/>
            <a:ext cx="1001268" cy="271203"/>
          </a:xfrm>
          <a:prstGeom prst="line">
            <a:avLst/>
          </a:prstGeom>
          <a:noFill/>
          <a:ln w="25400">
            <a:solidFill>
              <a:srgbClr val="E8A33D"/>
            </a:solidFill>
            <a:prstDash val="solid"/>
          </a:ln>
        </p:spPr>
      </p:sp>
      <p:sp>
        <p:nvSpPr>
          <p:cNvPr id="18" name="Shape 16"/>
          <p:cNvSpPr/>
          <p:nvPr/>
        </p:nvSpPr>
        <p:spPr>
          <a:xfrm flipV="1">
            <a:off x="2750058" y="2234045"/>
            <a:ext cx="1969160" cy="452005"/>
          </a:xfrm>
          <a:prstGeom prst="line">
            <a:avLst/>
          </a:prstGeom>
          <a:noFill/>
          <a:ln w="25400">
            <a:solidFill>
              <a:srgbClr val="E8A33D"/>
            </a:solidFill>
            <a:prstDash val="solid"/>
          </a:ln>
        </p:spPr>
      </p:sp>
      <p:sp>
        <p:nvSpPr>
          <p:cNvPr id="19" name="Shape 17"/>
          <p:cNvSpPr/>
          <p:nvPr/>
        </p:nvSpPr>
        <p:spPr>
          <a:xfrm flipV="1">
            <a:off x="4719218" y="1999003"/>
            <a:ext cx="2136038" cy="235042"/>
          </a:xfrm>
          <a:prstGeom prst="line">
            <a:avLst/>
          </a:prstGeom>
          <a:noFill/>
          <a:ln w="25400">
            <a:solidFill>
              <a:srgbClr val="E8A33D"/>
            </a:solidFill>
            <a:prstDash val="solid"/>
          </a:ln>
        </p:spPr>
      </p:sp>
      <p:sp>
        <p:nvSpPr>
          <p:cNvPr id="20" name="Shape 18"/>
          <p:cNvSpPr/>
          <p:nvPr/>
        </p:nvSpPr>
        <p:spPr>
          <a:xfrm>
            <a:off x="1648206" y="2856669"/>
            <a:ext cx="201168" cy="201168"/>
          </a:xfrm>
          <a:prstGeom prst="ellipse">
            <a:avLst/>
          </a:prstGeom>
          <a:solidFill>
            <a:srgbClr val="E8A33D"/>
          </a:solidFill>
          <a:ln w="12700">
            <a:solidFill>
              <a:srgbClr val="FFFFFF"/>
            </a:solidFill>
            <a:prstDash val="solid"/>
          </a:ln>
        </p:spPr>
      </p:sp>
      <p:sp>
        <p:nvSpPr>
          <p:cNvPr id="21" name="Text 19"/>
          <p:cNvSpPr txBox="1"/>
          <p:nvPr/>
        </p:nvSpPr>
        <p:spPr>
          <a:xfrm>
            <a:off x="1200150" y="2545773"/>
            <a:ext cx="1097280" cy="256032"/>
          </a:xfrm>
          <a:prstGeom prst="rect">
            <a:avLst/>
          </a:prstGeom>
          <a:noFill/>
          <a:ln/>
        </p:spPr>
        <p:txBody>
          <a:bodyPr wrap="square" lIns="0" tIns="0" rIns="0" bIns="0" rtlCol="0" anchor="ctr"/>
          <a:lstStyle/>
          <a:p>
            <a:pPr algn="ctr" indent="0" marL="0">
              <a:buNone/>
            </a:pPr>
            <a:r>
              <a:rPr lang="en-US" sz="1100" dirty="0">
                <a:solidFill>
                  <a:srgbClr val="1B1F2A"/>
                </a:solidFill>
              </a:rPr>
              <a:t>Qmin 0.6</a:t>
            </a:r>
            <a:endParaRPr lang="en-US" sz="1100" dirty="0"/>
          </a:p>
        </p:txBody>
      </p:sp>
      <p:sp>
        <p:nvSpPr>
          <p:cNvPr id="22" name="Shape 20"/>
          <p:cNvSpPr/>
          <p:nvPr/>
        </p:nvSpPr>
        <p:spPr>
          <a:xfrm>
            <a:off x="2649474" y="2585466"/>
            <a:ext cx="201168" cy="201168"/>
          </a:xfrm>
          <a:prstGeom prst="ellipse">
            <a:avLst/>
          </a:prstGeom>
          <a:solidFill>
            <a:srgbClr val="E8A33D"/>
          </a:solidFill>
          <a:ln w="12700">
            <a:solidFill>
              <a:srgbClr val="FFFFFF"/>
            </a:solidFill>
            <a:prstDash val="solid"/>
          </a:ln>
        </p:spPr>
      </p:sp>
      <p:sp>
        <p:nvSpPr>
          <p:cNvPr id="23" name="Text 21"/>
          <p:cNvSpPr txBox="1"/>
          <p:nvPr/>
        </p:nvSpPr>
        <p:spPr>
          <a:xfrm>
            <a:off x="2201418" y="2274570"/>
            <a:ext cx="1097280" cy="256032"/>
          </a:xfrm>
          <a:prstGeom prst="rect">
            <a:avLst/>
          </a:prstGeom>
          <a:noFill/>
          <a:ln/>
        </p:spPr>
        <p:txBody>
          <a:bodyPr wrap="square" lIns="0" tIns="0" rIns="0" bIns="0" rtlCol="0" anchor="ctr"/>
          <a:lstStyle/>
          <a:p>
            <a:pPr algn="ctr" indent="0" marL="0">
              <a:buNone/>
            </a:pPr>
            <a:r>
              <a:rPr lang="en-US" sz="1100" dirty="0">
                <a:solidFill>
                  <a:srgbClr val="1B1F2A"/>
                </a:solidFill>
              </a:rPr>
              <a:t>0.7</a:t>
            </a:r>
            <a:endParaRPr lang="en-US" sz="1100" dirty="0"/>
          </a:p>
        </p:txBody>
      </p:sp>
      <p:sp>
        <p:nvSpPr>
          <p:cNvPr id="24" name="Shape 22"/>
          <p:cNvSpPr/>
          <p:nvPr/>
        </p:nvSpPr>
        <p:spPr>
          <a:xfrm>
            <a:off x="4618634" y="2133461"/>
            <a:ext cx="201168" cy="201168"/>
          </a:xfrm>
          <a:prstGeom prst="ellipse">
            <a:avLst/>
          </a:prstGeom>
          <a:solidFill>
            <a:srgbClr val="E8A33D"/>
          </a:solidFill>
          <a:ln w="12700">
            <a:solidFill>
              <a:srgbClr val="FFFFFF"/>
            </a:solidFill>
            <a:prstDash val="solid"/>
          </a:ln>
        </p:spPr>
      </p:sp>
      <p:sp>
        <p:nvSpPr>
          <p:cNvPr id="25" name="Text 23"/>
          <p:cNvSpPr txBox="1"/>
          <p:nvPr/>
        </p:nvSpPr>
        <p:spPr>
          <a:xfrm>
            <a:off x="4170578" y="1822565"/>
            <a:ext cx="1097280" cy="256032"/>
          </a:xfrm>
          <a:prstGeom prst="rect">
            <a:avLst/>
          </a:prstGeom>
          <a:noFill/>
          <a:ln/>
        </p:spPr>
        <p:txBody>
          <a:bodyPr wrap="square" lIns="0" tIns="0" rIns="0" bIns="0" rtlCol="0" anchor="ctr"/>
          <a:lstStyle/>
          <a:p>
            <a:pPr algn="ctr" indent="0" marL="0">
              <a:buNone/>
            </a:pPr>
            <a:r>
              <a:rPr lang="en-US" sz="1100" dirty="0">
                <a:solidFill>
                  <a:srgbClr val="1B1F2A"/>
                </a:solidFill>
              </a:rPr>
              <a:t>0.8 (default)</a:t>
            </a:r>
            <a:endParaRPr lang="en-US" sz="1100" dirty="0"/>
          </a:p>
        </p:txBody>
      </p:sp>
      <p:sp>
        <p:nvSpPr>
          <p:cNvPr id="26" name="Shape 24"/>
          <p:cNvSpPr/>
          <p:nvPr/>
        </p:nvSpPr>
        <p:spPr>
          <a:xfrm>
            <a:off x="6754673" y="1898419"/>
            <a:ext cx="201168" cy="201168"/>
          </a:xfrm>
          <a:prstGeom prst="ellipse">
            <a:avLst/>
          </a:prstGeom>
          <a:solidFill>
            <a:srgbClr val="E8A33D"/>
          </a:solidFill>
          <a:ln w="12700">
            <a:solidFill>
              <a:srgbClr val="FFFFFF"/>
            </a:solidFill>
            <a:prstDash val="solid"/>
          </a:ln>
        </p:spPr>
      </p:sp>
      <p:sp>
        <p:nvSpPr>
          <p:cNvPr id="27" name="Text 25"/>
          <p:cNvSpPr txBox="1"/>
          <p:nvPr/>
        </p:nvSpPr>
        <p:spPr>
          <a:xfrm>
            <a:off x="6306617" y="1587523"/>
            <a:ext cx="1097280" cy="256032"/>
          </a:xfrm>
          <a:prstGeom prst="rect">
            <a:avLst/>
          </a:prstGeom>
          <a:noFill/>
          <a:ln/>
        </p:spPr>
        <p:txBody>
          <a:bodyPr wrap="square" lIns="0" tIns="0" rIns="0" bIns="0" rtlCol="0" anchor="ctr"/>
          <a:lstStyle/>
          <a:p>
            <a:pPr algn="ctr" indent="0" marL="0">
              <a:buNone/>
            </a:pPr>
            <a:r>
              <a:rPr lang="en-US" sz="1100" dirty="0">
                <a:solidFill>
                  <a:srgbClr val="1B1F2A"/>
                </a:solidFill>
              </a:rPr>
              <a:t>0.9</a:t>
            </a:r>
            <a:endParaRPr lang="en-US" sz="1100" dirty="0"/>
          </a:p>
        </p:txBody>
      </p:sp>
      <p:sp>
        <p:nvSpPr>
          <p:cNvPr id="28" name="Shape 26"/>
          <p:cNvSpPr/>
          <p:nvPr/>
        </p:nvSpPr>
        <p:spPr>
          <a:xfrm>
            <a:off x="4284878" y="5134772"/>
            <a:ext cx="201168" cy="201168"/>
          </a:xfrm>
          <a:prstGeom prst="ellipse">
            <a:avLst/>
          </a:prstGeom>
          <a:solidFill>
            <a:srgbClr val="8A94A6"/>
          </a:solidFill>
          <a:ln w="12700">
            <a:solidFill>
              <a:srgbClr val="FFFFFF"/>
            </a:solidFill>
            <a:prstDash val="solid"/>
          </a:ln>
        </p:spPr>
      </p:sp>
      <p:sp>
        <p:nvSpPr>
          <p:cNvPr id="29" name="Text 27"/>
          <p:cNvSpPr txBox="1"/>
          <p:nvPr/>
        </p:nvSpPr>
        <p:spPr>
          <a:xfrm>
            <a:off x="4522622" y="5107340"/>
            <a:ext cx="1371600" cy="256032"/>
          </a:xfrm>
          <a:prstGeom prst="rect">
            <a:avLst/>
          </a:prstGeom>
          <a:noFill/>
          <a:ln/>
        </p:spPr>
        <p:txBody>
          <a:bodyPr wrap="square" lIns="0" tIns="0" rIns="0" bIns="0" rtlCol="0" anchor="ctr"/>
          <a:lstStyle/>
          <a:p>
            <a:pPr indent="0" marL="0">
              <a:buNone/>
            </a:pPr>
            <a:r>
              <a:rPr lang="en-US" sz="1100" dirty="0">
                <a:solidFill>
                  <a:srgbClr val="3A4256"/>
                </a:solidFill>
              </a:rPr>
              <a:t>B2 Supervised</a:t>
            </a:r>
            <a:endParaRPr lang="en-US" sz="1100" dirty="0"/>
          </a:p>
        </p:txBody>
      </p:sp>
      <p:sp>
        <p:nvSpPr>
          <p:cNvPr id="30" name="Shape 28"/>
          <p:cNvSpPr/>
          <p:nvPr/>
        </p:nvSpPr>
        <p:spPr>
          <a:xfrm>
            <a:off x="5786780" y="3399074"/>
            <a:ext cx="201168" cy="201168"/>
          </a:xfrm>
          <a:prstGeom prst="ellipse">
            <a:avLst/>
          </a:prstGeom>
          <a:solidFill>
            <a:srgbClr val="8A94A6"/>
          </a:solidFill>
          <a:ln w="12700">
            <a:solidFill>
              <a:srgbClr val="FFFFFF"/>
            </a:solidFill>
            <a:prstDash val="solid"/>
          </a:ln>
        </p:spPr>
      </p:sp>
      <p:sp>
        <p:nvSpPr>
          <p:cNvPr id="31" name="Text 29"/>
          <p:cNvSpPr txBox="1"/>
          <p:nvPr/>
        </p:nvSpPr>
        <p:spPr>
          <a:xfrm>
            <a:off x="6024524" y="3371642"/>
            <a:ext cx="1371600" cy="256032"/>
          </a:xfrm>
          <a:prstGeom prst="rect">
            <a:avLst/>
          </a:prstGeom>
          <a:noFill/>
          <a:ln/>
        </p:spPr>
        <p:txBody>
          <a:bodyPr wrap="square" lIns="0" tIns="0" rIns="0" bIns="0" rtlCol="0" anchor="ctr"/>
          <a:lstStyle/>
          <a:p>
            <a:pPr indent="0" marL="0">
              <a:buNone/>
            </a:pPr>
            <a:r>
              <a:rPr lang="en-US" sz="1100" dirty="0">
                <a:solidFill>
                  <a:srgbClr val="3A4256"/>
                </a:solidFill>
              </a:rPr>
              <a:t>B4 Static</a:t>
            </a:r>
            <a:endParaRPr lang="en-US" sz="1100" dirty="0"/>
          </a:p>
        </p:txBody>
      </p:sp>
      <p:sp>
        <p:nvSpPr>
          <p:cNvPr id="32" name="Shape 30"/>
          <p:cNvSpPr/>
          <p:nvPr/>
        </p:nvSpPr>
        <p:spPr>
          <a:xfrm>
            <a:off x="4284878" y="3706437"/>
            <a:ext cx="201168" cy="201168"/>
          </a:xfrm>
          <a:prstGeom prst="ellipse">
            <a:avLst/>
          </a:prstGeom>
          <a:solidFill>
            <a:srgbClr val="8A94A6"/>
          </a:solidFill>
          <a:ln w="12700">
            <a:solidFill>
              <a:srgbClr val="FFFFFF"/>
            </a:solidFill>
            <a:prstDash val="solid"/>
          </a:ln>
        </p:spPr>
      </p:sp>
      <p:sp>
        <p:nvSpPr>
          <p:cNvPr id="33" name="Text 31"/>
          <p:cNvSpPr txBox="1"/>
          <p:nvPr/>
        </p:nvSpPr>
        <p:spPr>
          <a:xfrm>
            <a:off x="4522622" y="3679005"/>
            <a:ext cx="1371600" cy="256032"/>
          </a:xfrm>
          <a:prstGeom prst="rect">
            <a:avLst/>
          </a:prstGeom>
          <a:noFill/>
          <a:ln/>
        </p:spPr>
        <p:txBody>
          <a:bodyPr wrap="square" lIns="0" tIns="0" rIns="0" bIns="0" rtlCol="0" anchor="ctr"/>
          <a:lstStyle/>
          <a:p>
            <a:pPr indent="0" marL="0">
              <a:buNone/>
            </a:pPr>
            <a:r>
              <a:rPr lang="en-US" sz="1100" dirty="0">
                <a:solidFill>
                  <a:srgbClr val="3A4256"/>
                </a:solidFill>
              </a:rPr>
              <a:t>B5 Bandit</a:t>
            </a:r>
            <a:endParaRPr lang="en-US" sz="1100" dirty="0"/>
          </a:p>
        </p:txBody>
      </p:sp>
      <p:sp>
        <p:nvSpPr>
          <p:cNvPr id="34" name="takeaway card"/>
          <p:cNvSpPr/>
          <p:nvPr/>
        </p:nvSpPr>
        <p:spPr>
          <a:xfrm>
            <a:off x="8138160" y="1371600"/>
            <a:ext cx="3566160" cy="4480560"/>
          </a:xfrm>
          <a:prstGeom prst="roundRect">
            <a:avLst>
              <a:gd name="adj" fmla="val 2051"/>
            </a:avLst>
          </a:prstGeom>
          <a:solidFill>
            <a:srgbClr val="EEF1F5"/>
          </a:solidFill>
          <a:ln w="12700">
            <a:solidFill>
              <a:srgbClr val="EEF1F5"/>
            </a:solidFill>
            <a:prstDash val="solid"/>
          </a:ln>
        </p:spPr>
      </p:sp>
      <p:sp>
        <p:nvSpPr>
          <p:cNvPr id="35" name="Text 33"/>
          <p:cNvSpPr txBox="1"/>
          <p:nvPr/>
        </p:nvSpPr>
        <p:spPr>
          <a:xfrm>
            <a:off x="8412480" y="1600200"/>
            <a:ext cx="3063240" cy="4023360"/>
          </a:xfrm>
          <a:prstGeom prst="rect">
            <a:avLst/>
          </a:prstGeom>
          <a:noFill/>
          <a:ln/>
        </p:spPr>
        <p:txBody>
          <a:bodyPr wrap="square" lIns="0" tIns="0" rIns="0" bIns="0" rtlCol="0" anchor="t"/>
          <a:lstStyle/>
          <a:p>
            <a:pPr indent="0" marL="0">
              <a:buNone/>
            </a:pPr>
            <a:r>
              <a:rPr lang="en-US" sz="1400" b="1" dirty="0">
                <a:solidFill>
                  <a:srgbClr val="1B1F2A"/>
                </a:solidFill>
              </a:rPr>
              <a:t>At the default target (Qmin 0.8)</a:t>
            </a:r>
            <a:endParaRPr lang="en-US" sz="1400" dirty="0"/>
          </a:p>
          <a:p>
            <a:pPr indent="0" marL="0">
              <a:buNone/>
            </a:pPr>
            <a:r>
              <a:rPr lang="en-US" sz="1400" dirty="0">
                <a:solidFill>
                  <a:schemeClr val="tx2"/>
                </a:solidFill>
              </a:rPr>
              <a:t>ATLAS buys +7 to +17 points of success, but costs about the same per success as B2 and B5 under drift, and more than B2 when tools are stable.</a:t>
            </a:r>
            <a:endParaRPr lang="en-US" sz="1400" dirty="0"/>
          </a:p>
          <a:p>
            <a:pPr indent="0" marL="0">
              <a:buNone/>
            </a:pPr>
            <a:r>
              <a:rPr lang="en-US" sz="800" dirty="0">
                <a:solidFill>
                  <a:schemeClr val="tx2"/>
                </a:solidFill>
              </a:rPr>
              <a:t> </a:t>
            </a:r>
            <a:endParaRPr lang="en-US" sz="1400" dirty="0"/>
          </a:p>
          <a:p>
            <a:pPr indent="0" marL="0">
              <a:buNone/>
            </a:pPr>
            <a:r>
              <a:rPr lang="en-US" sz="1400" b="1" dirty="0">
                <a:solidFill>
                  <a:srgbClr val="1B1F2A"/>
                </a:solidFill>
              </a:rPr>
              <a:t>At Qmin 0.6–0.7</a:t>
            </a:r>
            <a:endParaRPr lang="en-US" sz="1400" dirty="0"/>
          </a:p>
          <a:p>
            <a:pPr indent="0" marL="0">
              <a:buNone/>
            </a:pPr>
            <a:r>
              <a:rPr lang="en-US" sz="1400" dirty="0">
                <a:solidFill>
                  <a:schemeClr val="tx2"/>
                </a:solidFill>
              </a:rPr>
              <a:t>ATLAS beats B2, B4 and B5 on both axes at once.</a:t>
            </a:r>
            <a:endParaRPr lang="en-US" sz="1400" dirty="0"/>
          </a:p>
        </p:txBody>
      </p:sp>
      <p:sp>
        <p:nvSpPr>
          <p:cNvPr id="36" name="Text 34"/>
          <p:cNvSpPr txBox="1"/>
          <p:nvPr/>
        </p:nvSpPr>
        <p:spPr>
          <a:xfrm>
            <a:off x="8412480" y="4846320"/>
            <a:ext cx="3063240" cy="822960"/>
          </a:xfrm>
          <a:prstGeom prst="rect">
            <a:avLst/>
          </a:prstGeom>
          <a:noFill/>
          <a:ln/>
        </p:spPr>
        <p:txBody>
          <a:bodyPr wrap="square" lIns="0" tIns="0" rIns="0" bIns="0" rtlCol="0" anchor="t"/>
          <a:lstStyle/>
          <a:p>
            <a:pPr indent="0" marL="0">
              <a:buNone/>
            </a:pPr>
            <a:r>
              <a:rPr lang="en-US" sz="1100" dirty="0">
                <a:solidFill>
                  <a:schemeClr val="tx2"/>
                </a:solidFill>
              </a:rPr>
              <a:t>E5 sweep under drift, 10 seeds. Operating points were chosen after the sweep. B1 (0.475, 6.26 m$) is off-scale.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On real tools, ATLAS routes around a database incident</a:t>
            </a:r>
            <a:endParaRPr lang="en-US" sz="3200" dirty="0"/>
          </a:p>
        </p:txBody>
      </p:sp>
      <p:graphicFrame>
        <p:nvGraphicFramePr>
          <p:cNvPr id="3" name="Chart 0" descr=""/>
          <p:cNvGraphicFramePr/>
          <p:nvPr/>
        </p:nvGraphicFramePr>
        <p:xfrm>
          <a:off x="457200" y="128016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371600"/>
            <a:ext cx="3749040" cy="4846320"/>
          </a:xfrm>
          <a:prstGeom prst="rect">
            <a:avLst/>
          </a:prstGeom>
          <a:noFill/>
          <a:ln/>
        </p:spPr>
        <p:txBody>
          <a:bodyPr wrap="square" lIns="0" tIns="0" rIns="0" bIns="0" rtlCol="0" anchor="t"/>
          <a:lstStyle/>
          <a:p>
            <a:pPr indent="0" marL="0">
              <a:buNone/>
            </a:pPr>
            <a:r>
              <a:rPr lang="en-US" sz="1400" b="1" dirty="0">
                <a:solidFill>
                  <a:srgbClr val="1B1F2A"/>
                </a:solidFill>
              </a:rPr>
              <a:t>Real execution</a:t>
            </a:r>
            <a:endParaRPr lang="en-US" sz="1400" dirty="0"/>
          </a:p>
          <a:p>
            <a:pPr indent="0" marL="0">
              <a:buNone/>
            </a:pPr>
            <a:r>
              <a:rPr lang="en-US" sz="1400" dirty="0">
                <a:solidFill>
                  <a:schemeClr val="tx2"/>
                </a:solidFill>
              </a:rPr>
              <a:t>SQLite primary + stale replica, hybrid and BM25 retrieval, log index and full log scan, calculator, subprocess Python sandbox. Answers graded against ground truth.</a:t>
            </a:r>
            <a:endParaRPr lang="en-US" sz="1400" dirty="0"/>
          </a:p>
          <a:p>
            <a:pPr indent="0" marL="0">
              <a:buNone/>
            </a:pPr>
            <a:r>
              <a:rPr lang="en-US" sz="800" dirty="0">
                <a:solidFill>
                  <a:schemeClr val="tx2"/>
                </a:solidFill>
              </a:rPr>
              <a:t> </a:t>
            </a:r>
            <a:endParaRPr lang="en-US" sz="1400" dirty="0"/>
          </a:p>
          <a:p>
            <a:pPr indent="0" marL="0">
              <a:buNone/>
            </a:pPr>
            <a:r>
              <a:rPr lang="en-US" sz="1400" b="1" dirty="0">
                <a:solidFill>
                  <a:srgbClr val="1B1F2A"/>
                </a:solidFill>
              </a:rPr>
              <a:t>Injected identically for all routers</a:t>
            </a:r>
            <a:endParaRPr lang="en-US" sz="1400" dirty="0"/>
          </a:p>
          <a:p>
            <a:pPr indent="0" marL="0">
              <a:buNone/>
            </a:pPr>
            <a:r>
              <a:rPr lang="en-US" sz="1400" dirty="0">
                <a:solidFill>
                  <a:schemeClr val="tx2"/>
                </a:solidFill>
              </a:rPr>
              <a:t>Network latency, transient errors, a primary-DB incident, a noisy sandbox neighbour, a degraded search cluster.</a:t>
            </a:r>
            <a:endParaRPr lang="en-US" sz="1400" dirty="0"/>
          </a:p>
          <a:p>
            <a:pPr indent="0" marL="0">
              <a:buNone/>
            </a:pPr>
            <a:r>
              <a:rPr lang="en-US" sz="800" dirty="0">
                <a:solidFill>
                  <a:schemeClr val="tx2"/>
                </a:solidFill>
              </a:rPr>
              <a:t> </a:t>
            </a:r>
            <a:endParaRPr lang="en-US" sz="1400" dirty="0"/>
          </a:p>
          <a:p>
            <a:pPr indent="0" marL="0">
              <a:buNone/>
            </a:pPr>
            <a:r>
              <a:rPr lang="en-US" sz="1400" b="1" dirty="0">
                <a:solidFill>
                  <a:srgbClr val="2A9D8F"/>
                </a:solidFill>
              </a:rPr>
              <a:t>+9.1 points vs the best-tools rules router (p = 0.02, 10 seeds), for +0.25 m$ per success.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The lead holds at every level of query understanding</a:t>
            </a:r>
            <a:endParaRPr lang="en-US" sz="3200" dirty="0"/>
          </a:p>
        </p:txBody>
      </p:sp>
      <p:graphicFrame>
        <p:nvGraphicFramePr>
          <p:cNvPr id="3" name="Chart 0" descr=""/>
          <p:cNvGraphicFramePr/>
          <p:nvPr/>
        </p:nvGraphicFramePr>
        <p:xfrm>
          <a:off x="457200" y="128016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321040" y="1417320"/>
            <a:ext cx="3383280" cy="868680"/>
          </a:xfrm>
          <a:prstGeom prst="rect">
            <a:avLst/>
          </a:prstGeom>
          <a:noFill/>
          <a:ln/>
        </p:spPr>
        <p:txBody>
          <a:bodyPr wrap="square" lIns="0" tIns="0" rIns="0" bIns="0" rtlCol="0" anchor="b"/>
          <a:lstStyle/>
          <a:p>
            <a:pPr indent="0" marL="0">
              <a:buNone/>
            </a:pPr>
            <a:r>
              <a:rPr lang="en-US" sz="4800" b="1" dirty="0">
                <a:solidFill>
                  <a:srgbClr val="C8553D"/>
                </a:solidFill>
                <a:latin typeface="Cambria" pitchFamily="34" charset="0"/>
                <a:ea typeface="Cambria" pitchFamily="34" charset="-122"/>
                <a:cs typeface="Cambria" pitchFamily="34" charset="-120"/>
              </a:rPr>
              <a:t>0.35</a:t>
            </a:r>
            <a:endParaRPr lang="en-US" sz="4800" dirty="0"/>
          </a:p>
        </p:txBody>
      </p:sp>
      <p:sp>
        <p:nvSpPr>
          <p:cNvPr id="5" name="Text 2"/>
          <p:cNvSpPr txBox="1"/>
          <p:nvPr/>
        </p:nvSpPr>
        <p:spPr>
          <a:xfrm>
            <a:off x="8321040" y="2331720"/>
            <a:ext cx="3383280" cy="685800"/>
          </a:xfrm>
          <a:prstGeom prst="rect">
            <a:avLst/>
          </a:prstGeom>
          <a:noFill/>
          <a:ln/>
        </p:spPr>
        <p:txBody>
          <a:bodyPr wrap="square" lIns="0" tIns="0" rIns="0" bIns="0" rtlCol="0" anchor="t"/>
          <a:lstStyle/>
          <a:p>
            <a:pPr indent="0" marL="0">
              <a:buNone/>
            </a:pPr>
            <a:r>
              <a:rPr lang="en-US" sz="1300" dirty="0">
                <a:solidFill>
                  <a:schemeClr val="tx2"/>
                </a:solidFill>
              </a:rPr>
              <a:t>exact-set accuracy of a local 0.5B LLM (Qwen2.5, llama.cpp, CPU), vs 0.90 for the classifier</a:t>
            </a:r>
            <a:endParaRPr lang="en-US" sz="1300" dirty="0"/>
          </a:p>
        </p:txBody>
      </p:sp>
      <p:sp>
        <p:nvSpPr>
          <p:cNvPr id="6" name="Text 3"/>
          <p:cNvSpPr txBox="1"/>
          <p:nvPr/>
        </p:nvSpPr>
        <p:spPr>
          <a:xfrm>
            <a:off x="8321040" y="3246120"/>
            <a:ext cx="3383280" cy="868680"/>
          </a:xfrm>
          <a:prstGeom prst="rect">
            <a:avLst/>
          </a:prstGeom>
          <a:noFill/>
          <a:ln/>
        </p:spPr>
        <p:txBody>
          <a:bodyPr wrap="square" lIns="0" tIns="0" rIns="0" bIns="0" rtlCol="0" anchor="b"/>
          <a:lstStyle/>
          <a:p>
            <a:pPr indent="0" marL="0">
              <a:buNone/>
            </a:pPr>
            <a:r>
              <a:rPr lang="en-US" sz="4800" b="1" dirty="0">
                <a:solidFill>
                  <a:srgbClr val="3A4256"/>
                </a:solidFill>
                <a:latin typeface="Cambria" pitchFamily="34" charset="0"/>
                <a:ea typeface="Cambria" pitchFamily="34" charset="-122"/>
                <a:cs typeface="Cambria" pitchFamily="34" charset="-120"/>
              </a:rPr>
              <a:t>635 ms</a:t>
            </a:r>
            <a:endParaRPr lang="en-US" sz="4800" dirty="0"/>
          </a:p>
        </p:txBody>
      </p:sp>
      <p:sp>
        <p:nvSpPr>
          <p:cNvPr id="7" name="Text 4"/>
          <p:cNvSpPr txBox="1"/>
          <p:nvPr/>
        </p:nvSpPr>
        <p:spPr>
          <a:xfrm>
            <a:off x="8321040" y="4160520"/>
            <a:ext cx="3383280" cy="685800"/>
          </a:xfrm>
          <a:prstGeom prst="rect">
            <a:avLst/>
          </a:prstGeom>
          <a:noFill/>
          <a:ln/>
        </p:spPr>
        <p:txBody>
          <a:bodyPr wrap="square" lIns="0" tIns="0" rIns="0" bIns="0" rtlCol="0" anchor="t"/>
          <a:lstStyle/>
          <a:p>
            <a:pPr indent="0" marL="0">
              <a:buNone/>
            </a:pPr>
            <a:r>
              <a:rPr lang="en-US" sz="1300" dirty="0">
                <a:solidFill>
                  <a:schemeClr val="tx2"/>
                </a:solidFill>
              </a:rPr>
              <a:t>per query for the LLM, vs 3 ms for the classifier</a:t>
            </a:r>
            <a:endParaRPr lang="en-US" sz="1300" dirty="0"/>
          </a:p>
        </p:txBody>
      </p:sp>
      <p:sp>
        <p:nvSpPr>
          <p:cNvPr id="8" name="Text 5"/>
          <p:cNvSpPr txBox="1"/>
          <p:nvPr/>
        </p:nvSpPr>
        <p:spPr>
          <a:xfrm>
            <a:off x="8321040" y="5074920"/>
            <a:ext cx="3383280" cy="822960"/>
          </a:xfrm>
          <a:prstGeom prst="rect">
            <a:avLst/>
          </a:prstGeom>
          <a:noFill/>
          <a:ln/>
        </p:spPr>
        <p:txBody>
          <a:bodyPr wrap="square" lIns="0" tIns="0" rIns="0" bIns="0" rtlCol="0" anchor="t"/>
          <a:lstStyle/>
          <a:p>
            <a:pPr indent="0" marL="0">
              <a:buNone/>
            </a:pPr>
            <a:r>
              <a:rPr lang="en-US" sz="1400" b="1" dirty="0">
                <a:solidFill>
                  <a:schemeClr val="tx1"/>
                </a:solidFill>
              </a:rPr>
              <a:t>Small local LLMs are not a free upgrade: understanding errors cap every router.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Plan structure does most of the work</a:t>
            </a:r>
            <a:endParaRPr lang="en-US" sz="3200" dirty="0"/>
          </a:p>
        </p:txBody>
      </p:sp>
      <p:graphicFrame>
        <p:nvGraphicFramePr>
          <p:cNvPr id="3" name="Chart 0" descr=""/>
          <p:cNvGraphicFramePr/>
          <p:nvPr/>
        </p:nvGraphicFramePr>
        <p:xfrm>
          <a:off x="457200" y="1280160"/>
          <a:ext cx="731520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38160" y="1371600"/>
            <a:ext cx="3566160" cy="4846320"/>
          </a:xfrm>
          <a:prstGeom prst="rect">
            <a:avLst/>
          </a:prstGeom>
          <a:noFill/>
          <a:ln/>
        </p:spPr>
        <p:txBody>
          <a:bodyPr wrap="square" lIns="0" tIns="0" rIns="0" bIns="0" rtlCol="0" anchor="t"/>
          <a:lstStyle/>
          <a:p>
            <a:pPr indent="0" marL="0">
              <a:buNone/>
            </a:pPr>
            <a:r>
              <a:rPr lang="en-US" sz="1400" b="1" dirty="0">
                <a:solidFill>
                  <a:srgbClr val="1B1F2A"/>
                </a:solidFill>
              </a:rPr>
              <a:t>Biggest effects</a:t>
            </a:r>
            <a:endParaRPr lang="en-US" sz="1400" dirty="0"/>
          </a:p>
          <a:p>
            <a:pPr indent="0" marL="0">
              <a:buNone/>
            </a:pPr>
            <a:r>
              <a:rPr lang="en-US" sz="1400" dirty="0">
                <a:solidFill>
                  <a:schemeClr val="tx2"/>
                </a:solidFill>
              </a:rPr>
              <a:t>Dependency-aware plans (+0.279) and the VoI stopping rule (+0.073).</a:t>
            </a:r>
            <a:endParaRPr lang="en-US" sz="1400" dirty="0"/>
          </a:p>
          <a:p>
            <a:pPr indent="0" marL="0">
              <a:buNone/>
            </a:pPr>
            <a:r>
              <a:rPr lang="en-US" sz="800" dirty="0">
                <a:solidFill>
                  <a:schemeClr val="tx2"/>
                </a:solidFill>
              </a:rPr>
              <a:t> </a:t>
            </a:r>
            <a:endParaRPr lang="en-US" sz="1400" dirty="0"/>
          </a:p>
          <a:p>
            <a:pPr indent="0" marL="0">
              <a:buNone/>
            </a:pPr>
            <a:r>
              <a:rPr lang="en-US" sz="1400" b="1" dirty="0">
                <a:solidFill>
                  <a:srgbClr val="1B1F2A"/>
                </a:solidFill>
              </a:rPr>
              <a:t>Negative bars are trade-offs</a:t>
            </a:r>
            <a:endParaRPr lang="en-US" sz="1400" dirty="0"/>
          </a:p>
          <a:p>
            <a:pPr indent="0" marL="0">
              <a:buNone/>
            </a:pPr>
            <a:r>
              <a:rPr lang="en-US" sz="1400" dirty="0">
                <a:solidFill>
                  <a:schemeClr val="tx2"/>
                </a:solidFill>
              </a:rPr>
              <a:t>Cost-awareness, context and exploration each lower success by about 1 point but save 0.17–0.77 m$ per success.</a:t>
            </a:r>
            <a:endParaRPr lang="en-US" sz="1400" dirty="0"/>
          </a:p>
          <a:p>
            <a:pPr indent="0" marL="0">
              <a:buNone/>
            </a:pPr>
            <a:r>
              <a:rPr lang="en-US" sz="800" dirty="0">
                <a:solidFill>
                  <a:schemeClr val="tx2"/>
                </a:solidFill>
              </a:rPr>
              <a:t> </a:t>
            </a:r>
            <a:endParaRPr lang="en-US" sz="1400" dirty="0"/>
          </a:p>
          <a:p>
            <a:pPr indent="0" marL="0">
              <a:buNone/>
            </a:pPr>
            <a:r>
              <a:rPr lang="en-US" sz="1400" b="1" dirty="0">
                <a:solidFill>
                  <a:srgbClr val="1B1F2A"/>
                </a:solidFill>
              </a:rPr>
              <a:t>No measurable effect</a:t>
            </a:r>
            <a:endParaRPr lang="en-US" sz="1400" dirty="0"/>
          </a:p>
          <a:p>
            <a:pPr indent="0" marL="0">
              <a:buNone/>
            </a:pPr>
            <a:r>
              <a:rPr lang="en-US" sz="1400" dirty="0">
                <a:solidFill>
                  <a:schemeClr val="tx2"/>
                </a:solidFill>
              </a:rPr>
              <a:t>Learned reliability and learned latency, in this environment.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What did not work, stated plainly</a:t>
            </a:r>
            <a:endParaRPr lang="en-US" sz="3200" dirty="0"/>
          </a:p>
        </p:txBody>
      </p:sp>
      <p:sp>
        <p:nvSpPr>
          <p:cNvPr id="3" name="badge !"/>
          <p:cNvSpPr/>
          <p:nvPr/>
        </p:nvSpPr>
        <p:spPr>
          <a:xfrm>
            <a:off x="640080" y="1417320"/>
            <a:ext cx="502920" cy="502920"/>
          </a:xfrm>
          <a:prstGeom prst="ellipse">
            <a:avLst/>
          </a:prstGeom>
          <a:solidFill>
            <a:srgbClr val="C8553D"/>
          </a:solidFill>
          <a:ln w="12700">
            <a:solidFill>
              <a:srgbClr val="C8553D"/>
            </a:solidFill>
            <a:prstDash val="solid"/>
          </a:ln>
        </p:spPr>
      </p:sp>
      <p:sp>
        <p:nvSpPr>
          <p:cNvPr id="4" name="Text 2"/>
          <p:cNvSpPr txBox="1"/>
          <p:nvPr/>
        </p:nvSpPr>
        <p:spPr>
          <a:xfrm>
            <a:off x="640080"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5" name="Text 3"/>
          <p:cNvSpPr txBox="1"/>
          <p:nvPr/>
        </p:nvSpPr>
        <p:spPr>
          <a:xfrm>
            <a:off x="1371600" y="1371600"/>
            <a:ext cx="10241280" cy="365760"/>
          </a:xfrm>
          <a:prstGeom prst="rect">
            <a:avLst/>
          </a:prstGeom>
          <a:noFill/>
          <a:ln/>
        </p:spPr>
        <p:txBody>
          <a:bodyPr wrap="square" lIns="0" tIns="0" rIns="0" bIns="0" rtlCol="0" anchor="t"/>
          <a:lstStyle/>
          <a:p>
            <a:pPr indent="0" marL="0">
              <a:buNone/>
            </a:pPr>
            <a:r>
              <a:rPr lang="en-US" sz="1800" b="1" dirty="0">
                <a:solidFill>
                  <a:schemeClr val="tx1"/>
                </a:solidFill>
              </a:rPr>
              <a:t>Scaling to hundreds of near-duplicate tools</a:t>
            </a:r>
            <a:endParaRPr lang="en-US" sz="1800" dirty="0"/>
          </a:p>
        </p:txBody>
      </p:sp>
      <p:sp>
        <p:nvSpPr>
          <p:cNvPr id="6" name="Text 4"/>
          <p:cNvSpPr txBox="1"/>
          <p:nvPr/>
        </p:nvSpPr>
        <p:spPr>
          <a:xfrm>
            <a:off x="1371600" y="1755648"/>
            <a:ext cx="10241280" cy="731520"/>
          </a:xfrm>
          <a:prstGeom prst="rect">
            <a:avLst/>
          </a:prstGeom>
          <a:noFill/>
          <a:ln/>
        </p:spPr>
        <p:txBody>
          <a:bodyPr wrap="square" lIns="0" tIns="0" rIns="0" bIns="0" rtlCol="0" anchor="t"/>
          <a:lstStyle/>
          <a:p>
            <a:pPr indent="0" marL="0">
              <a:buNone/>
            </a:pPr>
            <a:r>
              <a:rPr lang="en-US" sz="1400" dirty="0">
                <a:solidFill>
                  <a:schemeClr val="tx2"/>
                </a:solidFill>
              </a:rPr>
              <a:t>Success 0.91 → 0.79 at 512 tools. Planning p95 15.5 ms (target was ≤ 10 ms; down from 27 ms). Three remedies — √N admission control, pooled priors, pessimistic constraints — did not help and were dropped.</a:t>
            </a:r>
            <a:endParaRPr lang="en-US" sz="1400" dirty="0"/>
          </a:p>
        </p:txBody>
      </p:sp>
      <p:sp>
        <p:nvSpPr>
          <p:cNvPr id="7" name="badge !"/>
          <p:cNvSpPr/>
          <p:nvPr/>
        </p:nvSpPr>
        <p:spPr>
          <a:xfrm>
            <a:off x="640080" y="2624328"/>
            <a:ext cx="502920" cy="502920"/>
          </a:xfrm>
          <a:prstGeom prst="ellipse">
            <a:avLst/>
          </a:prstGeom>
          <a:solidFill>
            <a:srgbClr val="C8553D"/>
          </a:solidFill>
          <a:ln w="12700">
            <a:solidFill>
              <a:srgbClr val="C8553D"/>
            </a:solidFill>
            <a:prstDash val="solid"/>
          </a:ln>
        </p:spPr>
      </p:sp>
      <p:sp>
        <p:nvSpPr>
          <p:cNvPr id="8" name="Text 6"/>
          <p:cNvSpPr txBox="1"/>
          <p:nvPr/>
        </p:nvSpPr>
        <p:spPr>
          <a:xfrm>
            <a:off x="640080" y="26243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9" name="Text 7"/>
          <p:cNvSpPr txBox="1"/>
          <p:nvPr/>
        </p:nvSpPr>
        <p:spPr>
          <a:xfrm>
            <a:off x="1371600" y="2578608"/>
            <a:ext cx="10241280" cy="365760"/>
          </a:xfrm>
          <a:prstGeom prst="rect">
            <a:avLst/>
          </a:prstGeom>
          <a:noFill/>
          <a:ln/>
        </p:spPr>
        <p:txBody>
          <a:bodyPr wrap="square" lIns="0" tIns="0" rIns="0" bIns="0" rtlCol="0" anchor="t"/>
          <a:lstStyle/>
          <a:p>
            <a:pPr indent="0" marL="0">
              <a:buNone/>
            </a:pPr>
            <a:r>
              <a:rPr lang="en-US" sz="1800" b="1" dirty="0">
                <a:solidFill>
                  <a:schemeClr val="tx1"/>
                </a:solidFill>
              </a:rPr>
              <a:t>Not the cheapest at the default target</a:t>
            </a:r>
            <a:endParaRPr lang="en-US" sz="1800" dirty="0"/>
          </a:p>
        </p:txBody>
      </p:sp>
      <p:sp>
        <p:nvSpPr>
          <p:cNvPr id="10" name="Text 8"/>
          <p:cNvSpPr txBox="1"/>
          <p:nvPr/>
        </p:nvSpPr>
        <p:spPr>
          <a:xfrm>
            <a:off x="1371600" y="2962656"/>
            <a:ext cx="10241280" cy="731520"/>
          </a:xfrm>
          <a:prstGeom prst="rect">
            <a:avLst/>
          </a:prstGeom>
          <a:noFill/>
          <a:ln/>
        </p:spPr>
        <p:txBody>
          <a:bodyPr wrap="square" lIns="0" tIns="0" rIns="0" bIns="0" rtlCol="0" anchor="t"/>
          <a:lstStyle/>
          <a:p>
            <a:pPr indent="0" marL="0">
              <a:buNone/>
            </a:pPr>
            <a:r>
              <a:rPr lang="en-US" sz="1400" dirty="0">
                <a:solidFill>
                  <a:schemeClr val="tx2"/>
                </a:solidFill>
              </a:rPr>
              <a:t>More expensive per success than the supervised router when tools are stable (+0.23 m$); tied under drift.</a:t>
            </a:r>
            <a:endParaRPr lang="en-US" sz="1400" dirty="0"/>
          </a:p>
        </p:txBody>
      </p:sp>
      <p:sp>
        <p:nvSpPr>
          <p:cNvPr id="11" name="badge !"/>
          <p:cNvSpPr/>
          <p:nvPr/>
        </p:nvSpPr>
        <p:spPr>
          <a:xfrm>
            <a:off x="640080" y="3831336"/>
            <a:ext cx="502920" cy="502920"/>
          </a:xfrm>
          <a:prstGeom prst="ellipse">
            <a:avLst/>
          </a:prstGeom>
          <a:solidFill>
            <a:srgbClr val="C8553D"/>
          </a:solidFill>
          <a:ln w="12700">
            <a:solidFill>
              <a:srgbClr val="C8553D"/>
            </a:solidFill>
            <a:prstDash val="solid"/>
          </a:ln>
        </p:spPr>
      </p:sp>
      <p:sp>
        <p:nvSpPr>
          <p:cNvPr id="12" name="Text 10"/>
          <p:cNvSpPr txBox="1"/>
          <p:nvPr/>
        </p:nvSpPr>
        <p:spPr>
          <a:xfrm>
            <a:off x="640080" y="38313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3" name="Text 11"/>
          <p:cNvSpPr txBox="1"/>
          <p:nvPr/>
        </p:nvSpPr>
        <p:spPr>
          <a:xfrm>
            <a:off x="1371600" y="3785616"/>
            <a:ext cx="10241280" cy="365760"/>
          </a:xfrm>
          <a:prstGeom prst="rect">
            <a:avLst/>
          </a:prstGeom>
          <a:noFill/>
          <a:ln/>
        </p:spPr>
        <p:txBody>
          <a:bodyPr wrap="square" lIns="0" tIns="0" rIns="0" bIns="0" rtlCol="0" anchor="t"/>
          <a:lstStyle/>
          <a:p>
            <a:pPr indent="0" marL="0">
              <a:buNone/>
            </a:pPr>
            <a:r>
              <a:rPr lang="en-US" sz="1800" b="1" dirty="0">
                <a:solidFill>
                  <a:schemeClr val="tx1"/>
                </a:solidFill>
              </a:rPr>
              <a:t>More calls, worse tail</a:t>
            </a:r>
            <a:endParaRPr lang="en-US" sz="1800" dirty="0"/>
          </a:p>
        </p:txBody>
      </p:sp>
      <p:sp>
        <p:nvSpPr>
          <p:cNvPr id="14" name="Text 12"/>
          <p:cNvSpPr txBox="1"/>
          <p:nvPr/>
        </p:nvSpPr>
        <p:spPr>
          <a:xfrm>
            <a:off x="1371600" y="4169664"/>
            <a:ext cx="10241280" cy="731520"/>
          </a:xfrm>
          <a:prstGeom prst="rect">
            <a:avLst/>
          </a:prstGeom>
          <a:noFill/>
          <a:ln/>
        </p:spPr>
        <p:txBody>
          <a:bodyPr wrap="square" lIns="0" tIns="0" rIns="0" bIns="0" rtlCol="0" anchor="t"/>
          <a:lstStyle/>
          <a:p>
            <a:pPr indent="0" marL="0">
              <a:buNone/>
            </a:pPr>
            <a:r>
              <a:rPr lang="en-US" sz="1400" dirty="0">
                <a:solidFill>
                  <a:schemeClr val="tx2"/>
                </a:solidFill>
              </a:rPr>
              <a:t>≈1.9 calls per task vs ≈1.6; p95 latency under drift 1357 ms vs 1252 ms for the bandit — verification adds a serial step.</a:t>
            </a:r>
            <a:endParaRPr lang="en-US" sz="1400" dirty="0"/>
          </a:p>
        </p:txBody>
      </p:sp>
      <p:sp>
        <p:nvSpPr>
          <p:cNvPr id="15" name="badge !"/>
          <p:cNvSpPr/>
          <p:nvPr/>
        </p:nvSpPr>
        <p:spPr>
          <a:xfrm>
            <a:off x="640080" y="5038344"/>
            <a:ext cx="502920" cy="502920"/>
          </a:xfrm>
          <a:prstGeom prst="ellipse">
            <a:avLst/>
          </a:prstGeom>
          <a:solidFill>
            <a:srgbClr val="C8553D"/>
          </a:solidFill>
          <a:ln w="12700">
            <a:solidFill>
              <a:srgbClr val="C8553D"/>
            </a:solidFill>
            <a:prstDash val="solid"/>
          </a:ln>
        </p:spPr>
      </p:sp>
      <p:sp>
        <p:nvSpPr>
          <p:cNvPr id="16" name="Text 14"/>
          <p:cNvSpPr txBox="1"/>
          <p:nvPr/>
        </p:nvSpPr>
        <p:spPr>
          <a:xfrm>
            <a:off x="640080" y="503834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7" name="Text 15"/>
          <p:cNvSpPr txBox="1"/>
          <p:nvPr/>
        </p:nvSpPr>
        <p:spPr>
          <a:xfrm>
            <a:off x="1371600" y="4992624"/>
            <a:ext cx="10241280" cy="365760"/>
          </a:xfrm>
          <a:prstGeom prst="rect">
            <a:avLst/>
          </a:prstGeom>
          <a:noFill/>
          <a:ln/>
        </p:spPr>
        <p:txBody>
          <a:bodyPr wrap="square" lIns="0" tIns="0" rIns="0" bIns="0" rtlCol="0" anchor="t"/>
          <a:lstStyle/>
          <a:p>
            <a:pPr indent="0" marL="0">
              <a:buNone/>
            </a:pPr>
            <a:r>
              <a:rPr lang="en-US" sz="1800" b="1" dirty="0">
                <a:solidFill>
                  <a:schemeClr val="tx1"/>
                </a:solidFill>
              </a:rPr>
              <a:t>External validity</a:t>
            </a:r>
            <a:endParaRPr lang="en-US" sz="1800" dirty="0"/>
          </a:p>
        </p:txBody>
      </p:sp>
      <p:sp>
        <p:nvSpPr>
          <p:cNvPr id="18" name="Text 16"/>
          <p:cNvSpPr txBox="1"/>
          <p:nvPr/>
        </p:nvSpPr>
        <p:spPr>
          <a:xfrm>
            <a:off x="1371600" y="5376672"/>
            <a:ext cx="10241280" cy="731520"/>
          </a:xfrm>
          <a:prstGeom prst="rect">
            <a:avLst/>
          </a:prstGeom>
          <a:noFill/>
          <a:ln/>
        </p:spPr>
        <p:txBody>
          <a:bodyPr wrap="square" lIns="0" tIns="0" rIns="0" bIns="0" rtlCol="0" anchor="t"/>
          <a:lstStyle/>
          <a:p>
            <a:pPr indent="0" marL="0">
              <a:buNone/>
            </a:pPr>
            <a:r>
              <a:rPr lang="en-US" sz="1400" dirty="0">
                <a:solidFill>
                  <a:schemeClr val="tx2"/>
                </a:solidFill>
              </a:rPr>
              <a:t>Simulator parameters are hand-specified; the live world is generated with injected faults. Not production traffic.</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Production-ready service, not just an experiment</a:t>
            </a:r>
            <a:endParaRPr lang="en-US" sz="3200" dirty="0"/>
          </a:p>
        </p:txBody>
      </p:sp>
      <p:sp>
        <p:nvSpPr>
          <p:cNvPr id="3" name="production API"/>
          <p:cNvSpPr/>
          <p:nvPr/>
        </p:nvSpPr>
        <p:spPr>
          <a:xfrm>
            <a:off x="548640" y="1554480"/>
            <a:ext cx="3520440" cy="1874520"/>
          </a:xfrm>
          <a:prstGeom prst="roundRect">
            <a:avLst>
              <a:gd name="adj" fmla="val 3902"/>
            </a:avLst>
          </a:prstGeom>
          <a:solidFill>
            <a:srgbClr val="EEF1F5"/>
          </a:solidFill>
          <a:ln w="12700">
            <a:solidFill>
              <a:srgbClr val="EEF1F5"/>
            </a:solidFill>
            <a:prstDash val="solid"/>
          </a:ln>
        </p:spPr>
      </p:sp>
      <p:sp>
        <p:nvSpPr>
          <p:cNvPr id="4" name="Text 2"/>
          <p:cNvSpPr txBox="1"/>
          <p:nvPr/>
        </p:nvSpPr>
        <p:spPr>
          <a:xfrm>
            <a:off x="822960" y="178308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API</a:t>
            </a:r>
            <a:endParaRPr lang="en-US" sz="1800" dirty="0"/>
          </a:p>
        </p:txBody>
      </p:sp>
      <p:sp>
        <p:nvSpPr>
          <p:cNvPr id="5" name="Text 3"/>
          <p:cNvSpPr txBox="1"/>
          <p:nvPr/>
        </p:nvSpPr>
        <p:spPr>
          <a:xfrm>
            <a:off x="822960" y="2286000"/>
            <a:ext cx="3017520" cy="1051560"/>
          </a:xfrm>
          <a:prstGeom prst="rect">
            <a:avLst/>
          </a:prstGeom>
          <a:noFill/>
          <a:ln/>
        </p:spPr>
        <p:txBody>
          <a:bodyPr wrap="square" lIns="0" tIns="0" rIns="0" bIns="0" rtlCol="0" anchor="t"/>
          <a:lstStyle/>
          <a:p>
            <a:pPr indent="0" marL="0">
              <a:buNone/>
            </a:pPr>
            <a:r>
              <a:rPr lang="en-US" sz="1400" dirty="0">
                <a:solidFill>
                  <a:schemeClr val="tx2"/>
                </a:solidFill>
              </a:rPr>
              <a:t>FastAPI: route, execute, feedback, stats; API-key RBAC; audit log</a:t>
            </a:r>
            <a:endParaRPr lang="en-US" sz="1400" dirty="0"/>
          </a:p>
        </p:txBody>
      </p:sp>
      <p:sp>
        <p:nvSpPr>
          <p:cNvPr id="6" name="production Observability"/>
          <p:cNvSpPr/>
          <p:nvPr/>
        </p:nvSpPr>
        <p:spPr>
          <a:xfrm>
            <a:off x="4297680" y="1554480"/>
            <a:ext cx="3520440" cy="1874520"/>
          </a:xfrm>
          <a:prstGeom prst="roundRect">
            <a:avLst>
              <a:gd name="adj" fmla="val 3902"/>
            </a:avLst>
          </a:prstGeom>
          <a:solidFill>
            <a:srgbClr val="EEF1F5"/>
          </a:solidFill>
          <a:ln w="12700">
            <a:solidFill>
              <a:srgbClr val="EEF1F5"/>
            </a:solidFill>
            <a:prstDash val="solid"/>
          </a:ln>
        </p:spPr>
      </p:sp>
      <p:sp>
        <p:nvSpPr>
          <p:cNvPr id="7" name="Text 5"/>
          <p:cNvSpPr txBox="1"/>
          <p:nvPr/>
        </p:nvSpPr>
        <p:spPr>
          <a:xfrm>
            <a:off x="4572000" y="178308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Observability</a:t>
            </a:r>
            <a:endParaRPr lang="en-US" sz="1800" dirty="0"/>
          </a:p>
        </p:txBody>
      </p:sp>
      <p:sp>
        <p:nvSpPr>
          <p:cNvPr id="8" name="Text 6"/>
          <p:cNvSpPr txBox="1"/>
          <p:nvPr/>
        </p:nvSpPr>
        <p:spPr>
          <a:xfrm>
            <a:off x="4572000" y="2286000"/>
            <a:ext cx="3017520" cy="1051560"/>
          </a:xfrm>
          <a:prstGeom prst="rect">
            <a:avLst/>
          </a:prstGeom>
          <a:noFill/>
          <a:ln/>
        </p:spPr>
        <p:txBody>
          <a:bodyPr wrap="square" lIns="0" tIns="0" rIns="0" bIns="0" rtlCol="0" anchor="t"/>
          <a:lstStyle/>
          <a:p>
            <a:pPr indent="0" marL="0">
              <a:buNone/>
            </a:pPr>
            <a:r>
              <a:rPr lang="en-US" sz="1400" dirty="0">
                <a:solidFill>
                  <a:schemeClr val="tx2"/>
                </a:solidFill>
              </a:rPr>
              <a:t>Prometheus metrics: decisions, tool calls, latency, cost, feedback</a:t>
            </a:r>
            <a:endParaRPr lang="en-US" sz="1400" dirty="0"/>
          </a:p>
        </p:txBody>
      </p:sp>
      <p:sp>
        <p:nvSpPr>
          <p:cNvPr id="9" name="production State"/>
          <p:cNvSpPr/>
          <p:nvPr/>
        </p:nvSpPr>
        <p:spPr>
          <a:xfrm>
            <a:off x="8046720" y="1554480"/>
            <a:ext cx="3520440" cy="1874520"/>
          </a:xfrm>
          <a:prstGeom prst="roundRect">
            <a:avLst>
              <a:gd name="adj" fmla="val 3902"/>
            </a:avLst>
          </a:prstGeom>
          <a:solidFill>
            <a:srgbClr val="EEF1F5"/>
          </a:solidFill>
          <a:ln w="12700">
            <a:solidFill>
              <a:srgbClr val="EEF1F5"/>
            </a:solidFill>
            <a:prstDash val="solid"/>
          </a:ln>
        </p:spPr>
      </p:sp>
      <p:sp>
        <p:nvSpPr>
          <p:cNvPr id="10" name="Text 8"/>
          <p:cNvSpPr txBox="1"/>
          <p:nvPr/>
        </p:nvSpPr>
        <p:spPr>
          <a:xfrm>
            <a:off x="8321040" y="178308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State</a:t>
            </a:r>
            <a:endParaRPr lang="en-US" sz="1800" dirty="0"/>
          </a:p>
        </p:txBody>
      </p:sp>
      <p:sp>
        <p:nvSpPr>
          <p:cNvPr id="11" name="Text 9"/>
          <p:cNvSpPr txBox="1"/>
          <p:nvPr/>
        </p:nvSpPr>
        <p:spPr>
          <a:xfrm>
            <a:off x="8321040" y="2286000"/>
            <a:ext cx="3017520" cy="1051560"/>
          </a:xfrm>
          <a:prstGeom prst="rect">
            <a:avLst/>
          </a:prstGeom>
          <a:noFill/>
          <a:ln/>
        </p:spPr>
        <p:txBody>
          <a:bodyPr wrap="square" lIns="0" tIns="0" rIns="0" bIns="0" rtlCol="0" anchor="t"/>
          <a:lstStyle/>
          <a:p>
            <a:pPr indent="0" marL="0">
              <a:buNone/>
            </a:pPr>
            <a:r>
              <a:rPr lang="en-US" sz="1400" dirty="0">
                <a:solidFill>
                  <a:schemeClr val="tx2"/>
                </a:solidFill>
              </a:rPr>
              <a:t>Router posteriors snapshotted to file or Redis; atomic writes</a:t>
            </a:r>
            <a:endParaRPr lang="en-US" sz="1400" dirty="0"/>
          </a:p>
        </p:txBody>
      </p:sp>
      <p:sp>
        <p:nvSpPr>
          <p:cNvPr id="12" name="production Safe tools"/>
          <p:cNvSpPr/>
          <p:nvPr/>
        </p:nvSpPr>
        <p:spPr>
          <a:xfrm>
            <a:off x="548640" y="3703320"/>
            <a:ext cx="3520440" cy="1874520"/>
          </a:xfrm>
          <a:prstGeom prst="roundRect">
            <a:avLst>
              <a:gd name="adj" fmla="val 3902"/>
            </a:avLst>
          </a:prstGeom>
          <a:solidFill>
            <a:srgbClr val="EEF1F5"/>
          </a:solidFill>
          <a:ln w="12700">
            <a:solidFill>
              <a:srgbClr val="EEF1F5"/>
            </a:solidFill>
            <a:prstDash val="solid"/>
          </a:ln>
        </p:spPr>
      </p:sp>
      <p:sp>
        <p:nvSpPr>
          <p:cNvPr id="13" name="Text 11"/>
          <p:cNvSpPr txBox="1"/>
          <p:nvPr/>
        </p:nvSpPr>
        <p:spPr>
          <a:xfrm>
            <a:off x="822960" y="393192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Safe tools</a:t>
            </a:r>
            <a:endParaRPr lang="en-US" sz="1800" dirty="0"/>
          </a:p>
        </p:txBody>
      </p:sp>
      <p:sp>
        <p:nvSpPr>
          <p:cNvPr id="14" name="Text 12"/>
          <p:cNvSpPr txBox="1"/>
          <p:nvPr/>
        </p:nvSpPr>
        <p:spPr>
          <a:xfrm>
            <a:off x="822960" y="4434840"/>
            <a:ext cx="3017520" cy="1051560"/>
          </a:xfrm>
          <a:prstGeom prst="rect">
            <a:avLst/>
          </a:prstGeom>
          <a:noFill/>
          <a:ln/>
        </p:spPr>
        <p:txBody>
          <a:bodyPr wrap="square" lIns="0" tIns="0" rIns="0" bIns="0" rtlCol="0" anchor="t"/>
          <a:lstStyle/>
          <a:p>
            <a:pPr indent="0" marL="0">
              <a:buNone/>
            </a:pPr>
            <a:r>
              <a:rPr lang="en-US" sz="1400" dirty="0">
                <a:solidFill>
                  <a:schemeClr val="tx2"/>
                </a:solidFill>
              </a:rPr>
              <a:t>Read-only SQL with authorizer and time budget; AST allow-listed Python in an isolated subprocess</a:t>
            </a:r>
            <a:endParaRPr lang="en-US" sz="1400" dirty="0"/>
          </a:p>
        </p:txBody>
      </p:sp>
      <p:sp>
        <p:nvSpPr>
          <p:cNvPr id="15" name="production Agent integration"/>
          <p:cNvSpPr/>
          <p:nvPr/>
        </p:nvSpPr>
        <p:spPr>
          <a:xfrm>
            <a:off x="4297680" y="3703320"/>
            <a:ext cx="3520440" cy="1874520"/>
          </a:xfrm>
          <a:prstGeom prst="roundRect">
            <a:avLst>
              <a:gd name="adj" fmla="val 3902"/>
            </a:avLst>
          </a:prstGeom>
          <a:solidFill>
            <a:srgbClr val="EEF1F5"/>
          </a:solidFill>
          <a:ln w="12700">
            <a:solidFill>
              <a:srgbClr val="EEF1F5"/>
            </a:solidFill>
            <a:prstDash val="solid"/>
          </a:ln>
        </p:spPr>
      </p:sp>
      <p:sp>
        <p:nvSpPr>
          <p:cNvPr id="16" name="Text 14"/>
          <p:cNvSpPr txBox="1"/>
          <p:nvPr/>
        </p:nvSpPr>
        <p:spPr>
          <a:xfrm>
            <a:off x="4572000" y="393192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Agent integration</a:t>
            </a:r>
            <a:endParaRPr lang="en-US" sz="1800" dirty="0"/>
          </a:p>
        </p:txBody>
      </p:sp>
      <p:sp>
        <p:nvSpPr>
          <p:cNvPr id="17" name="Text 15"/>
          <p:cNvSpPr txBox="1"/>
          <p:nvPr/>
        </p:nvSpPr>
        <p:spPr>
          <a:xfrm>
            <a:off x="4572000" y="4434840"/>
            <a:ext cx="3017520" cy="1051560"/>
          </a:xfrm>
          <a:prstGeom prst="rect">
            <a:avLst/>
          </a:prstGeom>
          <a:noFill/>
          <a:ln/>
        </p:spPr>
        <p:txBody>
          <a:bodyPr wrap="square" lIns="0" tIns="0" rIns="0" bIns="0" rtlCol="0" anchor="t"/>
          <a:lstStyle/>
          <a:p>
            <a:pPr indent="0" marL="0">
              <a:buNone/>
            </a:pPr>
            <a:r>
              <a:rPr lang="en-US" sz="1400" dirty="0">
                <a:solidFill>
                  <a:schemeClr val="tx2"/>
                </a:solidFill>
              </a:rPr>
              <a:t>LangChain tool selector and a LangGraph node</a:t>
            </a:r>
            <a:endParaRPr lang="en-US" sz="1400" dirty="0"/>
          </a:p>
        </p:txBody>
      </p:sp>
      <p:sp>
        <p:nvSpPr>
          <p:cNvPr id="18" name="production Delivery"/>
          <p:cNvSpPr/>
          <p:nvPr/>
        </p:nvSpPr>
        <p:spPr>
          <a:xfrm>
            <a:off x="8046720" y="3703320"/>
            <a:ext cx="3520440" cy="1874520"/>
          </a:xfrm>
          <a:prstGeom prst="roundRect">
            <a:avLst>
              <a:gd name="adj" fmla="val 3902"/>
            </a:avLst>
          </a:prstGeom>
          <a:solidFill>
            <a:srgbClr val="EEF1F5"/>
          </a:solidFill>
          <a:ln w="12700">
            <a:solidFill>
              <a:srgbClr val="EEF1F5"/>
            </a:solidFill>
            <a:prstDash val="solid"/>
          </a:ln>
        </p:spPr>
      </p:sp>
      <p:sp>
        <p:nvSpPr>
          <p:cNvPr id="19" name="Text 17"/>
          <p:cNvSpPr txBox="1"/>
          <p:nvPr/>
        </p:nvSpPr>
        <p:spPr>
          <a:xfrm>
            <a:off x="8321040" y="393192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Delivery</a:t>
            </a:r>
            <a:endParaRPr lang="en-US" sz="1800" dirty="0"/>
          </a:p>
        </p:txBody>
      </p:sp>
      <p:sp>
        <p:nvSpPr>
          <p:cNvPr id="20" name="Text 18"/>
          <p:cNvSpPr txBox="1"/>
          <p:nvPr/>
        </p:nvSpPr>
        <p:spPr>
          <a:xfrm>
            <a:off x="8321040" y="4434840"/>
            <a:ext cx="3017520" cy="1051560"/>
          </a:xfrm>
          <a:prstGeom prst="rect">
            <a:avLst/>
          </a:prstGeom>
          <a:noFill/>
          <a:ln/>
        </p:spPr>
        <p:txBody>
          <a:bodyPr wrap="square" lIns="0" tIns="0" rIns="0" bIns="0" rtlCol="0" anchor="t"/>
          <a:lstStyle/>
          <a:p>
            <a:pPr indent="0" marL="0">
              <a:buNone/>
            </a:pPr>
            <a:r>
              <a:rPr lang="en-US" sz="1400" dirty="0">
                <a:solidFill>
                  <a:schemeClr val="tx2"/>
                </a:solidFill>
              </a:rPr>
              <a:t>Docker Compose (non-root, read-only FS), CI: lint, 64 tests, benchmark smoke, image build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Conclusions and next steps</a:t>
            </a:r>
            <a:endParaRPr lang="en-US" sz="3200" dirty="0"/>
          </a:p>
        </p:txBody>
      </p:sp>
      <p:sp>
        <p:nvSpPr>
          <p:cNvPr id="3" name="Text 1"/>
          <p:cNvSpPr txBox="1"/>
          <p:nvPr/>
        </p:nvSpPr>
        <p:spPr>
          <a:xfrm>
            <a:off x="731520" y="1463040"/>
            <a:ext cx="6583680" cy="3840480"/>
          </a:xfrm>
          <a:prstGeom prst="rect">
            <a:avLst/>
          </a:prstGeom>
          <a:noFill/>
          <a:ln/>
        </p:spPr>
        <p:txBody>
          <a:bodyPr wrap="square" rtlCol="0" anchor="t"/>
          <a:lstStyle/>
          <a:p>
            <a:pPr marL="342900" indent="-342900">
              <a:spcAft>
                <a:spcPts val="1400"/>
              </a:spcAft>
              <a:buSzPct val="100000"/>
              <a:buChar char="•"/>
            </a:pPr>
            <a:r>
              <a:rPr lang="en-US" sz="1800" dirty="0">
                <a:solidFill>
                  <a:srgbClr val="FFFFFF"/>
                </a:solidFill>
              </a:rPr>
              <a:t>Plan-level, constrained, drift-aware routing beats rules, a supervised router and a contextual bandit on success — in simulation, on real tools, and at every understanding quality.</a:t>
            </a:r>
            <a:endParaRPr lang="en-US" sz="1800" dirty="0"/>
          </a:p>
          <a:p>
            <a:pPr marL="342900" indent="-342900">
              <a:spcAft>
                <a:spcPts val="1400"/>
              </a:spcAft>
              <a:buSzPct val="100000"/>
              <a:buChar char="•"/>
            </a:pPr>
            <a:r>
              <a:rPr lang="en-US" sz="1800" dirty="0">
                <a:solidFill>
                  <a:srgbClr val="FFFFFF"/>
                </a:solidFill>
              </a:rPr>
              <a:t>Cost per success is a tunable trade-off, not a free win: the quality target decides it.</a:t>
            </a:r>
            <a:endParaRPr lang="en-US" sz="1800" dirty="0"/>
          </a:p>
          <a:p>
            <a:pPr marL="342900" indent="-342900">
              <a:spcAft>
                <a:spcPts val="1400"/>
              </a:spcAft>
              <a:buSzPct val="100000"/>
              <a:buChar char="•"/>
            </a:pPr>
            <a:r>
              <a:rPr lang="en-US" sz="1800" dirty="0">
                <a:solidFill>
                  <a:srgbClr val="FFFFFF"/>
                </a:solidFill>
              </a:rPr>
              <a:t>Large registries of near-duplicate tools remain open; the obvious remedies did not work.</a:t>
            </a:r>
            <a:endParaRPr lang="en-US" sz="1800" dirty="0"/>
          </a:p>
        </p:txBody>
      </p:sp>
      <p:sp>
        <p:nvSpPr>
          <p:cNvPr id="4" name="next steps card"/>
          <p:cNvSpPr/>
          <p:nvPr/>
        </p:nvSpPr>
        <p:spPr>
          <a:xfrm>
            <a:off x="7772400" y="1463040"/>
            <a:ext cx="3840480" cy="3017520"/>
          </a:xfrm>
          <a:prstGeom prst="roundRect">
            <a:avLst>
              <a:gd name="adj" fmla="val 2424"/>
            </a:avLst>
          </a:prstGeom>
          <a:solidFill>
            <a:srgbClr val="3A4256"/>
          </a:solidFill>
          <a:ln w="12700">
            <a:solidFill>
              <a:srgbClr val="3A4256"/>
            </a:solidFill>
            <a:prstDash val="solid"/>
          </a:ln>
        </p:spPr>
      </p:sp>
      <p:sp>
        <p:nvSpPr>
          <p:cNvPr id="5" name="Text 3"/>
          <p:cNvSpPr txBox="1"/>
          <p:nvPr/>
        </p:nvSpPr>
        <p:spPr>
          <a:xfrm>
            <a:off x="8046720" y="1691640"/>
            <a:ext cx="3383280" cy="2651760"/>
          </a:xfrm>
          <a:prstGeom prst="rect">
            <a:avLst/>
          </a:prstGeom>
          <a:noFill/>
          <a:ln/>
        </p:spPr>
        <p:txBody>
          <a:bodyPr wrap="square" rtlCol="0" anchor="t"/>
          <a:lstStyle/>
          <a:p>
            <a:pPr indent="0" marL="0">
              <a:spcAft>
                <a:spcPts val="800"/>
              </a:spcAft>
              <a:buNone/>
            </a:pPr>
            <a:r>
              <a:rPr lang="en-US" sz="1800" b="1" dirty="0">
                <a:solidFill>
                  <a:srgbClr val="E8A33D"/>
                </a:solidFill>
              </a:rPr>
              <a:t>Next</a:t>
            </a:r>
            <a:endParaRPr lang="en-US" sz="1500" dirty="0"/>
          </a:p>
          <a:p>
            <a:pPr marL="342900" indent="-342900">
              <a:spcAft>
                <a:spcPts val="800"/>
              </a:spcAft>
              <a:buSzPct val="100000"/>
              <a:buChar char="•"/>
            </a:pPr>
            <a:r>
              <a:rPr lang="en-US" sz="1500" dirty="0">
                <a:solidFill>
                  <a:srgbClr val="FFFFFF"/>
                </a:solidFill>
              </a:rPr>
              <a:t>Learn tool similarity to detect duplicates</a:t>
            </a:r>
            <a:endParaRPr lang="en-US" sz="1500" dirty="0"/>
          </a:p>
          <a:p>
            <a:pPr marL="342900" indent="-342900">
              <a:spcAft>
                <a:spcPts val="800"/>
              </a:spcAft>
              <a:buSzPct val="100000"/>
              <a:buChar char="•"/>
            </a:pPr>
            <a:r>
              <a:rPr lang="en-US" sz="1500" dirty="0">
                <a:solidFill>
                  <a:srgbClr val="FFFFFF"/>
                </a:solidFill>
              </a:rPr>
              <a:t>Replay real production traces</a:t>
            </a:r>
            <a:endParaRPr lang="en-US" sz="1500" dirty="0"/>
          </a:p>
          <a:p>
            <a:pPr marL="342900" indent="-342900">
              <a:spcAft>
                <a:spcPts val="800"/>
              </a:spcAft>
              <a:buSzPct val="100000"/>
              <a:buChar char="•"/>
            </a:pPr>
            <a:r>
              <a:rPr lang="en-US" sz="1500" dirty="0">
                <a:solidFill>
                  <a:srgbClr val="FFFFFF"/>
                </a:solidFill>
              </a:rPr>
              <a:t>A larger local model for understanding</a:t>
            </a:r>
            <a:endParaRPr lang="en-US" sz="1500" dirty="0"/>
          </a:p>
          <a:p>
            <a:pPr marL="342900" indent="-342900">
              <a:spcAft>
                <a:spcPts val="800"/>
              </a:spcAft>
              <a:buSzPct val="100000"/>
              <a:buChar char="•"/>
            </a:pPr>
            <a:r>
              <a:rPr lang="en-US" sz="1500" dirty="0">
                <a:solidFill>
                  <a:srgbClr val="FFFFFF"/>
                </a:solidFill>
              </a:rPr>
              <a:t>Model correlated tool errors</a:t>
            </a:r>
            <a:endParaRPr lang="en-US" sz="1500" dirty="0"/>
          </a:p>
        </p:txBody>
      </p:sp>
      <p:sp>
        <p:nvSpPr>
          <p:cNvPr id="6" name="Text 4"/>
          <p:cNvSpPr txBox="1"/>
          <p:nvPr/>
        </p:nvSpPr>
        <p:spPr>
          <a:xfrm>
            <a:off x="731520" y="5760720"/>
            <a:ext cx="10515600" cy="365760"/>
          </a:xfrm>
          <a:prstGeom prst="rect">
            <a:avLst/>
          </a:prstGeom>
          <a:noFill/>
          <a:ln/>
        </p:spPr>
        <p:txBody>
          <a:bodyPr wrap="square" lIns="0" tIns="0" rIns="0" bIns="0" rtlCol="0" anchor="ctr"/>
          <a:lstStyle/>
          <a:p>
            <a:pPr indent="0" marL="0">
              <a:buNone/>
            </a:pPr>
            <a:r>
              <a:rPr lang="en-US" sz="1400" dirty="0">
                <a:solidFill>
                  <a:srgbClr val="8A94A6"/>
                </a:solidFill>
              </a:rPr>
              <a:t>Code, data and every number: github.com/Thrya29/ATLAS-Research-System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ATLAS">
  <a:themeElements>
    <a:clrScheme name="ATLAS">
      <a:dk1>
        <a:srgbClr val="1B1F2A"/>
      </a:dk1>
      <a:lt1>
        <a:srgbClr val="FFFFFF"/>
      </a:lt1>
      <a:dk2>
        <a:srgbClr val="3A4256"/>
      </a:dk2>
      <a:lt2>
        <a:srgbClr val="EEF1F5"/>
      </a:lt2>
      <a:accent1>
        <a:srgbClr val="E8A33D"/>
      </a:accent1>
      <a:accent2>
        <a:srgbClr val="2A9D8F"/>
      </a:accent2>
      <a:accent3>
        <a:srgbClr val="8A94A6"/>
      </a:accent3>
      <a:accent4>
        <a:srgbClr val="C8553D"/>
      </a:accent4>
      <a:accent5>
        <a:srgbClr val="5B6C8F"/>
      </a:accent5>
      <a:accent6>
        <a:srgbClr val="B8C4D6"/>
      </a:accent6>
      <a:hlink>
        <a:srgbClr val="2A9D8F"/>
      </a:hlink>
      <a:folHlink>
        <a:srgbClr val="5B6C8F"/>
      </a:folHlink>
    </a:clrScheme>
    <a:fontScheme name="ATL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ATLAS: adaptive, constrained tool routing for LLM agents</dc:title>
  <dc:subject>PptxGenJS Presentation</dc:subject>
  <dc:creator>Thrya29</dc:creator>
  <cp:lastModifiedBy>Thrya29</cp:lastModifiedBy>
  <cp:revision>1</cp:revision>
  <dcterms:created xsi:type="dcterms:W3CDTF">2026-10-30T03:55:18Z</dcterms:created>
  <dcterms:modified xsi:type="dcterms:W3CDTF">2026-10-30T03:55:18Z</dcterms:modified>
</cp:coreProperties>
</file>